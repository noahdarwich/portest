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omments/modernComment_101_27735F92.xml" ContentType="application/vnd.ms-powerpoint.comments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0"/>
  </p:notesMasterIdLst>
  <p:sldIdLst>
    <p:sldId id="256" r:id="rId2"/>
    <p:sldId id="263" r:id="rId3"/>
    <p:sldId id="257" r:id="rId4"/>
    <p:sldId id="264" r:id="rId5"/>
    <p:sldId id="258" r:id="rId6"/>
    <p:sldId id="259" r:id="rId7"/>
    <p:sldId id="261" r:id="rId8"/>
    <p:sldId id="260" r:id="rId9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AF761A2B-D09C-B57B-FA78-A1CE2490A83C}" name="Max Höchsmann" initials="MH" userId="3c8c1ec4187b034f" providerId="Windows Live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035" autoAdjust="0"/>
    <p:restoredTop sz="77193" autoAdjust="0"/>
  </p:normalViewPr>
  <p:slideViewPr>
    <p:cSldViewPr snapToGrid="0">
      <p:cViewPr varScale="1">
        <p:scale>
          <a:sx n="51" d="100"/>
          <a:sy n="51" d="100"/>
        </p:scale>
        <p:origin x="1256" y="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microsoft.com/office/2018/10/relationships/authors" Target="authors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comments/modernComment_101_27735F92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F4E055D9-2A98-4B52-AC68-BEFFDF16A2E8}" authorId="{AF761A2B-D09C-B57B-FA78-A1CE2490A83C}" created="2022-06-06T16:10:33.421">
    <ac:deMkLst xmlns:ac="http://schemas.microsoft.com/office/drawing/2013/main/command">
      <pc:docMk xmlns:pc="http://schemas.microsoft.com/office/powerpoint/2013/main/command"/>
      <pc:sldMk xmlns:pc="http://schemas.microsoft.com/office/powerpoint/2013/main/command" cId="661872530" sldId="257"/>
      <ac:picMk id="3074" creationId="{E923BCC0-8004-536D-80D5-08781787D2CE}"/>
    </ac:deMkLst>
    <p188:txBody>
      <a:bodyPr/>
      <a:lstStyle/>
      <a:p>
        <a:r>
          <a:rPr lang="de-DE"/>
          <a:t>Align color of slide separators (first two slides grey, these ones orange)</a:t>
        </a:r>
      </a:p>
    </p188:txBody>
  </p188:cm>
</p188:cmLst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7576B65-3F4C-40D3-9BAC-154574806AF6}" type="datetimeFigureOut">
              <a:rPr lang="de-DE" smtClean="0"/>
              <a:t>06.06.2022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9FD65AE-20D2-4DD1-822D-EF98EA2ACF9F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31616273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Problem Statement</a:t>
            </a:r>
          </a:p>
          <a:p>
            <a:pPr lvl="1"/>
            <a:r>
              <a:rPr lang="de-DE" dirty="0"/>
              <a:t>Protests </a:t>
            </a:r>
            <a:r>
              <a:rPr lang="de-DE" dirty="0" err="1"/>
              <a:t>often</a:t>
            </a:r>
            <a:r>
              <a:rPr lang="de-DE" dirty="0"/>
              <a:t> </a:t>
            </a:r>
            <a:r>
              <a:rPr lang="de-DE" dirty="0" err="1"/>
              <a:t>escalate</a:t>
            </a:r>
            <a:r>
              <a:rPr lang="de-DE" dirty="0"/>
              <a:t> and turn violent, </a:t>
            </a:r>
            <a:r>
              <a:rPr lang="de-DE" dirty="0" err="1"/>
              <a:t>undermining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effectiveness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protest´s</a:t>
            </a:r>
            <a:r>
              <a:rPr lang="de-DE" dirty="0"/>
              <a:t> </a:t>
            </a:r>
            <a:r>
              <a:rPr lang="de-DE" dirty="0" err="1"/>
              <a:t>purpose</a:t>
            </a:r>
            <a:r>
              <a:rPr lang="de-DE" dirty="0"/>
              <a:t> and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legitmacy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regime</a:t>
            </a:r>
            <a:r>
              <a:rPr lang="de-DE" dirty="0"/>
              <a:t> </a:t>
            </a:r>
            <a:r>
              <a:rPr lang="de-DE" dirty="0" err="1"/>
              <a:t>as</a:t>
            </a:r>
            <a:r>
              <a:rPr lang="de-DE" dirty="0"/>
              <a:t> </a:t>
            </a:r>
            <a:r>
              <a:rPr lang="de-DE" dirty="0" err="1"/>
              <a:t>well</a:t>
            </a:r>
            <a:r>
              <a:rPr lang="de-DE" dirty="0"/>
              <a:t> </a:t>
            </a:r>
            <a:r>
              <a:rPr lang="de-DE" dirty="0" err="1"/>
              <a:t>as</a:t>
            </a:r>
            <a:r>
              <a:rPr lang="de-DE" dirty="0"/>
              <a:t> </a:t>
            </a:r>
            <a:r>
              <a:rPr lang="de-DE" dirty="0" err="1"/>
              <a:t>harming</a:t>
            </a:r>
            <a:r>
              <a:rPr lang="de-DE" dirty="0"/>
              <a:t> </a:t>
            </a:r>
            <a:r>
              <a:rPr lang="de-DE" dirty="0" err="1"/>
              <a:t>participants</a:t>
            </a:r>
            <a:r>
              <a:rPr lang="de-DE" dirty="0"/>
              <a:t> (</a:t>
            </a:r>
            <a:r>
              <a:rPr lang="de-DE" dirty="0" err="1"/>
              <a:t>compare</a:t>
            </a:r>
            <a:r>
              <a:rPr lang="de-DE" dirty="0"/>
              <a:t> </a:t>
            </a:r>
            <a:r>
              <a:rPr lang="de-DE" dirty="0" err="1"/>
              <a:t>intro</a:t>
            </a:r>
            <a:r>
              <a:rPr lang="de-DE" dirty="0"/>
              <a:t> </a:t>
            </a:r>
            <a:r>
              <a:rPr lang="de-DE" dirty="0" err="1"/>
              <a:t>slides</a:t>
            </a:r>
            <a:r>
              <a:rPr lang="de-DE" dirty="0"/>
              <a:t> </a:t>
            </a:r>
            <a:r>
              <a:rPr lang="de-DE" dirty="0" err="1"/>
              <a:t>from</a:t>
            </a:r>
            <a:r>
              <a:rPr lang="de-DE" dirty="0"/>
              <a:t> </a:t>
            </a:r>
            <a:r>
              <a:rPr lang="de-DE" dirty="0" err="1"/>
              <a:t>Noah´s</a:t>
            </a:r>
            <a:r>
              <a:rPr lang="de-DE" dirty="0"/>
              <a:t> </a:t>
            </a:r>
            <a:r>
              <a:rPr lang="de-DE" dirty="0" err="1"/>
              <a:t>presentation</a:t>
            </a:r>
            <a:r>
              <a:rPr lang="de-DE" dirty="0"/>
              <a:t>)</a:t>
            </a:r>
          </a:p>
          <a:p>
            <a:r>
              <a:rPr lang="de-DE" dirty="0" err="1"/>
              <a:t>Our</a:t>
            </a:r>
            <a:r>
              <a:rPr lang="de-DE" dirty="0"/>
              <a:t> </a:t>
            </a:r>
            <a:r>
              <a:rPr lang="de-DE" dirty="0" err="1"/>
              <a:t>tool</a:t>
            </a:r>
            <a:r>
              <a:rPr lang="de-DE" dirty="0"/>
              <a:t> </a:t>
            </a:r>
            <a:r>
              <a:rPr lang="de-DE" dirty="0" err="1"/>
              <a:t>solves</a:t>
            </a:r>
            <a:r>
              <a:rPr lang="de-DE" dirty="0"/>
              <a:t> </a:t>
            </a:r>
            <a:r>
              <a:rPr lang="de-DE" dirty="0" err="1"/>
              <a:t>this</a:t>
            </a:r>
            <a:r>
              <a:rPr lang="de-DE" dirty="0"/>
              <a:t> </a:t>
            </a:r>
            <a:r>
              <a:rPr lang="de-DE" dirty="0" err="1"/>
              <a:t>problem</a:t>
            </a:r>
            <a:r>
              <a:rPr lang="de-DE" dirty="0"/>
              <a:t>, </a:t>
            </a:r>
            <a:r>
              <a:rPr lang="de-DE" dirty="0" err="1"/>
              <a:t>by</a:t>
            </a:r>
            <a:r>
              <a:rPr lang="de-DE" dirty="0"/>
              <a:t>…</a:t>
            </a:r>
          </a:p>
          <a:p>
            <a:pPr lvl="1"/>
            <a:r>
              <a:rPr lang="de-DE" dirty="0"/>
              <a:t>Prevent </a:t>
            </a:r>
            <a:r>
              <a:rPr lang="de-DE" dirty="0" err="1"/>
              <a:t>physical</a:t>
            </a:r>
            <a:r>
              <a:rPr lang="de-DE" dirty="0"/>
              <a:t> and </a:t>
            </a:r>
            <a:r>
              <a:rPr lang="de-DE" dirty="0" err="1"/>
              <a:t>psychological</a:t>
            </a:r>
            <a:r>
              <a:rPr lang="de-DE" dirty="0"/>
              <a:t> </a:t>
            </a:r>
            <a:r>
              <a:rPr lang="de-DE" dirty="0" err="1"/>
              <a:t>harm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participants</a:t>
            </a:r>
            <a:endParaRPr lang="de-DE" dirty="0"/>
          </a:p>
          <a:p>
            <a:pPr lvl="1"/>
            <a:r>
              <a:rPr lang="de-DE" dirty="0" err="1"/>
              <a:t>Increase</a:t>
            </a:r>
            <a:r>
              <a:rPr lang="de-DE" dirty="0"/>
              <a:t> </a:t>
            </a:r>
            <a:r>
              <a:rPr lang="de-DE" dirty="0" err="1"/>
              <a:t>effectiveness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demonstrations</a:t>
            </a:r>
            <a:r>
              <a:rPr lang="de-DE" dirty="0"/>
              <a:t> </a:t>
            </a:r>
            <a:r>
              <a:rPr lang="de-DE" dirty="0" err="1"/>
              <a:t>by</a:t>
            </a:r>
            <a:r>
              <a:rPr lang="de-DE" dirty="0"/>
              <a:t> </a:t>
            </a:r>
            <a:r>
              <a:rPr lang="de-DE" dirty="0" err="1"/>
              <a:t>making</a:t>
            </a:r>
            <a:r>
              <a:rPr lang="de-DE" dirty="0"/>
              <a:t> </a:t>
            </a:r>
            <a:r>
              <a:rPr lang="de-DE" dirty="0" err="1"/>
              <a:t>them</a:t>
            </a:r>
            <a:r>
              <a:rPr lang="de-DE" dirty="0"/>
              <a:t> </a:t>
            </a:r>
            <a:r>
              <a:rPr lang="de-DE" dirty="0" err="1"/>
              <a:t>less</a:t>
            </a:r>
            <a:r>
              <a:rPr lang="de-DE" dirty="0"/>
              <a:t> violent</a:t>
            </a:r>
          </a:p>
          <a:p>
            <a:r>
              <a:rPr lang="de-DE" dirty="0"/>
              <a:t>Brief </a:t>
            </a:r>
            <a:r>
              <a:rPr lang="de-DE" dirty="0" err="1"/>
              <a:t>pictures</a:t>
            </a:r>
            <a:r>
              <a:rPr lang="de-DE" dirty="0"/>
              <a:t>/ </a:t>
            </a:r>
            <a:r>
              <a:rPr lang="de-DE" dirty="0" err="1"/>
              <a:t>intro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team</a:t>
            </a:r>
            <a:r>
              <a:rPr lang="de-DE" dirty="0"/>
              <a:t>?</a:t>
            </a:r>
          </a:p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9FD65AE-20D2-4DD1-822D-EF98EA2ACF9F}" type="slidenum">
              <a:rPr lang="de-DE" smtClean="0"/>
              <a:t>3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96023252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DD3E1DC-630D-5512-3255-5E8367D7B2E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A2DD584B-1EBD-ACF5-C4E1-AF38FD1DD5D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51656F49-52AC-8163-916B-DF80672C18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A51AE2-6F7D-4FF0-84CA-91171E2CBA30}" type="datetimeFigureOut">
              <a:rPr lang="de-DE" smtClean="0"/>
              <a:t>06.06.2022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3AF04690-5E15-3C29-6F40-668E4C1E5A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B1D5E079-474F-2819-FC6A-BDA36D7B2B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FA708E-03DC-4B49-91FC-47ABD6AFECE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24687634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D439E77-B43B-028F-A83A-A7CEC01236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92E8BC59-D771-4B19-F898-9357A1C276E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9AA14A4D-F046-D150-4F4F-F9133F9AB6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A51AE2-6F7D-4FF0-84CA-91171E2CBA30}" type="datetimeFigureOut">
              <a:rPr lang="de-DE" smtClean="0"/>
              <a:t>06.06.2022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43EF7C3A-5455-7C48-AD57-11A35DD710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6D17B695-87D3-37DD-6BE2-A32C8DBD1D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FA708E-03DC-4B49-91FC-47ABD6AFECE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74424622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C3AC438-3E25-7BFF-B621-65774BCAEF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004D75D0-609E-2F82-4027-61CCA9457DB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7C67623E-96BC-B97F-5537-7E4A48D3E3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A51AE2-6F7D-4FF0-84CA-91171E2CBA30}" type="datetimeFigureOut">
              <a:rPr lang="de-DE" smtClean="0"/>
              <a:t>06.06.2022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C6702899-7F8A-68A9-8105-74E44EBC53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FC1594EF-EFB6-4829-A6BB-496A40A175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FA708E-03DC-4B49-91FC-47ABD6AFECE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92376009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3178721-6C3B-9D6E-F757-42CB1F173F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F8CF9FC-8535-5941-7750-AFFB9CD0234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DCBAE7D9-59AE-B7B2-995B-36FC3FAF3CD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E4DB4FB5-2E7A-AE37-8B98-230BE705CD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A51AE2-6F7D-4FF0-84CA-91171E2CBA30}" type="datetimeFigureOut">
              <a:rPr lang="de-DE" smtClean="0"/>
              <a:t>06.06.2022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FB1ABF67-3130-CECE-1965-DF56A0ADFD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FD370581-CB68-C65D-5271-C9CAD82623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FA708E-03DC-4B49-91FC-47ABD6AFECE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20019176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2748516-8678-594E-451B-518CA993E8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330332E6-7DC4-C423-A523-82E60BDE09A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A608804A-2F17-EFFF-45A4-AD1D536D5E6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C6FC602C-3772-4192-4CBE-9EE727D88DF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A6D9D866-60C3-6464-D2F5-7B035870607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9A4BF96E-7370-528C-75B5-B38DEA87DE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A51AE2-6F7D-4FF0-84CA-91171E2CBA30}" type="datetimeFigureOut">
              <a:rPr lang="de-DE" smtClean="0"/>
              <a:t>06.06.2022</a:t>
            </a:fld>
            <a:endParaRPr lang="de-DE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4C75D50E-B85A-2BC6-5BED-95C10FFF07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A1265560-82E6-0C23-C536-3B9E4B4204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FA708E-03DC-4B49-91FC-47ABD6AFECE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38842332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303D7C7-13A5-05D7-C5E2-D756630575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0E4F96C6-7009-6A62-A27C-20D02B43A9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A51AE2-6F7D-4FF0-84CA-91171E2CBA30}" type="datetimeFigureOut">
              <a:rPr lang="de-DE" smtClean="0"/>
              <a:t>06.06.2022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A244AB36-3694-88C2-3B3C-C5D5D79CE7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9BCBF624-F058-F854-90C2-0AA1EFC292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FA708E-03DC-4B49-91FC-47ABD6AFECE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80838534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B7AD991E-9CF5-4D35-7A1A-7E44B10304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A51AE2-6F7D-4FF0-84CA-91171E2CBA30}" type="datetimeFigureOut">
              <a:rPr lang="de-DE" smtClean="0"/>
              <a:t>06.06.2022</a:t>
            </a:fld>
            <a:endParaRPr lang="de-DE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2FA41381-797C-5E40-989B-C3FD9F0AA4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2456831B-A37B-11BC-C068-4478BC517B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FA708E-03DC-4B49-91FC-47ABD6AFECE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3117800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0FD578F-AC2E-03C9-AB41-C67807D2AA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0DC55DB3-C05E-9895-3B54-BDE83CFCD6F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C4F81D4B-B7B8-07A8-FA23-50069A0E0C8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46009736-447E-1EC5-217E-96A39C3136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A51AE2-6F7D-4FF0-84CA-91171E2CBA30}" type="datetimeFigureOut">
              <a:rPr lang="de-DE" smtClean="0"/>
              <a:t>06.06.2022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037CFA5E-7944-227E-3199-0A7024EDED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BB9C754A-7010-FD36-D387-7895ABFE3E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FA708E-03DC-4B49-91FC-47ABD6AFECE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67889594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5C912FF-9BFF-5433-8D3E-ACD07A0CE6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40F2EB8B-D211-7FE4-804F-854FF7F0530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DE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C8A59F7F-3E6B-443F-069C-F2D3294E4F5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0B418436-0E13-A279-50D2-F417042BFB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A51AE2-6F7D-4FF0-84CA-91171E2CBA30}" type="datetimeFigureOut">
              <a:rPr lang="de-DE" smtClean="0"/>
              <a:t>06.06.2022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4E59A1DC-7E4E-7D2C-749E-9AC1BEC4EA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CDE7DECE-8468-A080-6ABF-B3D38A9FB3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FA708E-03DC-4B49-91FC-47ABD6AFECE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8503019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8B1F58C-FAE0-4963-7768-AEB31AC0A3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75A84B8D-322B-5C3A-2D92-951710E598B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83A47E52-E0B4-39DE-1B01-3FBBE2496C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A51AE2-6F7D-4FF0-84CA-91171E2CBA30}" type="datetimeFigureOut">
              <a:rPr lang="de-DE" smtClean="0"/>
              <a:t>06.06.2022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2E0AC6F2-36C0-1940-E0C7-28F965A5CE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618C13C5-F616-3606-9D03-D975D4D56F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FA708E-03DC-4B49-91FC-47ABD6AFECE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2239506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>
            <a:extLst>
              <a:ext uri="{FF2B5EF4-FFF2-40B4-BE49-F238E27FC236}">
                <a16:creationId xmlns:a16="http://schemas.microsoft.com/office/drawing/2014/main" id="{157BE496-85A9-DB43-A16F-E7451D82AB5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A268AECD-6B77-A870-DF17-D8B557E8A77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267537E7-1912-241B-5099-1E396B503D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A51AE2-6F7D-4FF0-84CA-91171E2CBA30}" type="datetimeFigureOut">
              <a:rPr lang="de-DE" smtClean="0"/>
              <a:t>06.06.2022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ED38FD04-592F-C05B-5F8E-0FC3B00A85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160202AC-F87A-2BBC-0F3F-4D2A59ECB8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FA708E-03DC-4B49-91FC-47ABD6AFECE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51007338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AD63A9D3-1DC9-E868-99A8-5B2BB3F19F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5F99A9BF-939E-C15A-4DAB-FE4A0BD0CBA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A9FAF700-8620-5902-B46B-A90BEDCD593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AA51AE2-6F7D-4FF0-84CA-91171E2CBA30}" type="datetimeFigureOut">
              <a:rPr lang="de-DE" smtClean="0"/>
              <a:t>06.06.2022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F59CE653-738E-0E2E-7F7C-759E885BEC9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12A76063-E72F-997B-D55B-ABDF572E48A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7FA708E-03DC-4B49-91FC-47ABD6AFECE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27196161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01_27735F92.xm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jpe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40" name="Rectangle 1035">
            <a:extLst>
              <a:ext uri="{FF2B5EF4-FFF2-40B4-BE49-F238E27FC236}">
                <a16:creationId xmlns:a16="http://schemas.microsoft.com/office/drawing/2014/main" id="{657F69E0-C4B0-4BEC-A689-4F8D877F05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40F9F379-A4A6-2CA6-735C-3E6B4016C7AE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alphaModFix amt="5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"/>
          <a:stretch/>
        </p:blipFill>
        <p:spPr bwMode="auto">
          <a:xfrm>
            <a:off x="20" y="10"/>
            <a:ext cx="12188930" cy="68579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6F507EEC-A9BC-BABF-DAF4-0E8255BC9E4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3063240"/>
          </a:xfrm>
        </p:spPr>
        <p:txBody>
          <a:bodyPr>
            <a:normAutofit/>
          </a:bodyPr>
          <a:lstStyle/>
          <a:p>
            <a:r>
              <a:rPr lang="de-DE" sz="6600">
                <a:solidFill>
                  <a:srgbClr val="FFFFFF"/>
                </a:solidFill>
              </a:rPr>
              <a:t>Pro-Test Demo Day Presentation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930DAB99-D649-69EF-F865-18278EFED91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7048" y="4599432"/>
            <a:ext cx="9144000" cy="1536192"/>
          </a:xfrm>
        </p:spPr>
        <p:txBody>
          <a:bodyPr>
            <a:normAutofit/>
          </a:bodyPr>
          <a:lstStyle/>
          <a:p>
            <a:r>
              <a:rPr lang="de-DE">
                <a:solidFill>
                  <a:srgbClr val="FFFFFF"/>
                </a:solidFill>
              </a:rPr>
              <a:t>Increasing citizen participation, strengthening governance processes, creating a safe political arena  for all actors</a:t>
            </a:r>
            <a:endParaRPr lang="de-DE" dirty="0">
              <a:solidFill>
                <a:srgbClr val="FFFFFF"/>
              </a:solidFill>
            </a:endParaRPr>
          </a:p>
          <a:p>
            <a:r>
              <a:rPr lang="de-DE">
                <a:solidFill>
                  <a:srgbClr val="FFFFFF"/>
                </a:solidFill>
              </a:rPr>
              <a:t>Noah Darwich, </a:t>
            </a:r>
            <a:r>
              <a:rPr lang="de-DE" dirty="0">
                <a:solidFill>
                  <a:srgbClr val="FFFFFF"/>
                </a:solidFill>
              </a:rPr>
              <a:t>Kevin Lee, Max Höchsmann</a:t>
            </a:r>
          </a:p>
        </p:txBody>
      </p:sp>
      <p:sp>
        <p:nvSpPr>
          <p:cNvPr id="1041" name="sketchy line">
            <a:extLst>
              <a:ext uri="{FF2B5EF4-FFF2-40B4-BE49-F238E27FC236}">
                <a16:creationId xmlns:a16="http://schemas.microsoft.com/office/drawing/2014/main" id="{9F6380B4-6A1C-481E-8408-B4E6C75B9B8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974206" y="4368623"/>
            <a:ext cx="4243589" cy="18288"/>
          </a:xfrm>
          <a:custGeom>
            <a:avLst/>
            <a:gdLst>
              <a:gd name="connsiteX0" fmla="*/ 0 w 4243589"/>
              <a:gd name="connsiteY0" fmla="*/ 0 h 18288"/>
              <a:gd name="connsiteX1" fmla="*/ 478919 w 4243589"/>
              <a:gd name="connsiteY1" fmla="*/ 0 h 18288"/>
              <a:gd name="connsiteX2" fmla="*/ 957839 w 4243589"/>
              <a:gd name="connsiteY2" fmla="*/ 0 h 18288"/>
              <a:gd name="connsiteX3" fmla="*/ 1521630 w 4243589"/>
              <a:gd name="connsiteY3" fmla="*/ 0 h 18288"/>
              <a:gd name="connsiteX4" fmla="*/ 2212729 w 4243589"/>
              <a:gd name="connsiteY4" fmla="*/ 0 h 18288"/>
              <a:gd name="connsiteX5" fmla="*/ 2734084 w 4243589"/>
              <a:gd name="connsiteY5" fmla="*/ 0 h 18288"/>
              <a:gd name="connsiteX6" fmla="*/ 3255439 w 4243589"/>
              <a:gd name="connsiteY6" fmla="*/ 0 h 18288"/>
              <a:gd name="connsiteX7" fmla="*/ 4243589 w 4243589"/>
              <a:gd name="connsiteY7" fmla="*/ 0 h 18288"/>
              <a:gd name="connsiteX8" fmla="*/ 4243589 w 4243589"/>
              <a:gd name="connsiteY8" fmla="*/ 18288 h 18288"/>
              <a:gd name="connsiteX9" fmla="*/ 3594926 w 4243589"/>
              <a:gd name="connsiteY9" fmla="*/ 18288 h 18288"/>
              <a:gd name="connsiteX10" fmla="*/ 3073571 w 4243589"/>
              <a:gd name="connsiteY10" fmla="*/ 18288 h 18288"/>
              <a:gd name="connsiteX11" fmla="*/ 2552216 w 4243589"/>
              <a:gd name="connsiteY11" fmla="*/ 18288 h 18288"/>
              <a:gd name="connsiteX12" fmla="*/ 1903553 w 4243589"/>
              <a:gd name="connsiteY12" fmla="*/ 18288 h 18288"/>
              <a:gd name="connsiteX13" fmla="*/ 1212454 w 4243589"/>
              <a:gd name="connsiteY13" fmla="*/ 18288 h 18288"/>
              <a:gd name="connsiteX14" fmla="*/ 733535 w 4243589"/>
              <a:gd name="connsiteY14" fmla="*/ 18288 h 18288"/>
              <a:gd name="connsiteX15" fmla="*/ 0 w 4243589"/>
              <a:gd name="connsiteY15" fmla="*/ 18288 h 18288"/>
              <a:gd name="connsiteX16" fmla="*/ 0 w 4243589"/>
              <a:gd name="connsiteY16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4243589" h="18288" fill="none" extrusionOk="0">
                <a:moveTo>
                  <a:pt x="0" y="0"/>
                </a:moveTo>
                <a:cubicBezTo>
                  <a:pt x="213395" y="-21006"/>
                  <a:pt x="307421" y="-18116"/>
                  <a:pt x="478919" y="0"/>
                </a:cubicBezTo>
                <a:cubicBezTo>
                  <a:pt x="650417" y="18116"/>
                  <a:pt x="831092" y="-21237"/>
                  <a:pt x="957839" y="0"/>
                </a:cubicBezTo>
                <a:cubicBezTo>
                  <a:pt x="1084586" y="21237"/>
                  <a:pt x="1301682" y="25124"/>
                  <a:pt x="1521630" y="0"/>
                </a:cubicBezTo>
                <a:cubicBezTo>
                  <a:pt x="1741578" y="-25124"/>
                  <a:pt x="1970269" y="-29139"/>
                  <a:pt x="2212729" y="0"/>
                </a:cubicBezTo>
                <a:cubicBezTo>
                  <a:pt x="2455189" y="29139"/>
                  <a:pt x="2558847" y="-4796"/>
                  <a:pt x="2734084" y="0"/>
                </a:cubicBezTo>
                <a:cubicBezTo>
                  <a:pt x="2909321" y="4796"/>
                  <a:pt x="3097217" y="-13409"/>
                  <a:pt x="3255439" y="0"/>
                </a:cubicBezTo>
                <a:cubicBezTo>
                  <a:pt x="3413662" y="13409"/>
                  <a:pt x="3979999" y="-10121"/>
                  <a:pt x="4243589" y="0"/>
                </a:cubicBezTo>
                <a:cubicBezTo>
                  <a:pt x="4244484" y="8974"/>
                  <a:pt x="4243043" y="9359"/>
                  <a:pt x="4243589" y="18288"/>
                </a:cubicBezTo>
                <a:cubicBezTo>
                  <a:pt x="4058777" y="31246"/>
                  <a:pt x="3910348" y="3158"/>
                  <a:pt x="3594926" y="18288"/>
                </a:cubicBezTo>
                <a:cubicBezTo>
                  <a:pt x="3279504" y="33418"/>
                  <a:pt x="3319955" y="-3977"/>
                  <a:pt x="3073571" y="18288"/>
                </a:cubicBezTo>
                <a:cubicBezTo>
                  <a:pt x="2827187" y="40553"/>
                  <a:pt x="2767387" y="1863"/>
                  <a:pt x="2552216" y="18288"/>
                </a:cubicBezTo>
                <a:cubicBezTo>
                  <a:pt x="2337046" y="34713"/>
                  <a:pt x="2181871" y="19527"/>
                  <a:pt x="1903553" y="18288"/>
                </a:cubicBezTo>
                <a:cubicBezTo>
                  <a:pt x="1625235" y="17049"/>
                  <a:pt x="1557672" y="24174"/>
                  <a:pt x="1212454" y="18288"/>
                </a:cubicBezTo>
                <a:cubicBezTo>
                  <a:pt x="867236" y="12402"/>
                  <a:pt x="874382" y="15627"/>
                  <a:pt x="733535" y="18288"/>
                </a:cubicBezTo>
                <a:cubicBezTo>
                  <a:pt x="592688" y="20949"/>
                  <a:pt x="183477" y="14753"/>
                  <a:pt x="0" y="18288"/>
                </a:cubicBezTo>
                <a:cubicBezTo>
                  <a:pt x="-229" y="14222"/>
                  <a:pt x="509" y="5816"/>
                  <a:pt x="0" y="0"/>
                </a:cubicBezTo>
                <a:close/>
              </a:path>
              <a:path w="4243589" h="18288" stroke="0" extrusionOk="0">
                <a:moveTo>
                  <a:pt x="0" y="0"/>
                </a:moveTo>
                <a:cubicBezTo>
                  <a:pt x="143690" y="16630"/>
                  <a:pt x="266667" y="14847"/>
                  <a:pt x="521355" y="0"/>
                </a:cubicBezTo>
                <a:cubicBezTo>
                  <a:pt x="776043" y="-14847"/>
                  <a:pt x="814491" y="-17363"/>
                  <a:pt x="1000275" y="0"/>
                </a:cubicBezTo>
                <a:cubicBezTo>
                  <a:pt x="1186059" y="17363"/>
                  <a:pt x="1352504" y="-23507"/>
                  <a:pt x="1521630" y="0"/>
                </a:cubicBezTo>
                <a:cubicBezTo>
                  <a:pt x="1690756" y="23507"/>
                  <a:pt x="1889525" y="5871"/>
                  <a:pt x="2127857" y="0"/>
                </a:cubicBezTo>
                <a:cubicBezTo>
                  <a:pt x="2366189" y="-5871"/>
                  <a:pt x="2620628" y="-27997"/>
                  <a:pt x="2776520" y="0"/>
                </a:cubicBezTo>
                <a:cubicBezTo>
                  <a:pt x="2932412" y="27997"/>
                  <a:pt x="3131683" y="-25073"/>
                  <a:pt x="3467618" y="0"/>
                </a:cubicBezTo>
                <a:cubicBezTo>
                  <a:pt x="3803553" y="25073"/>
                  <a:pt x="4017371" y="3071"/>
                  <a:pt x="4243589" y="0"/>
                </a:cubicBezTo>
                <a:cubicBezTo>
                  <a:pt x="4243134" y="6162"/>
                  <a:pt x="4243492" y="11775"/>
                  <a:pt x="4243589" y="18288"/>
                </a:cubicBezTo>
                <a:cubicBezTo>
                  <a:pt x="4017834" y="-5779"/>
                  <a:pt x="3834586" y="13376"/>
                  <a:pt x="3594926" y="18288"/>
                </a:cubicBezTo>
                <a:cubicBezTo>
                  <a:pt x="3355266" y="23200"/>
                  <a:pt x="3204179" y="2869"/>
                  <a:pt x="2903827" y="18288"/>
                </a:cubicBezTo>
                <a:cubicBezTo>
                  <a:pt x="2603475" y="33707"/>
                  <a:pt x="2526187" y="46187"/>
                  <a:pt x="2212729" y="18288"/>
                </a:cubicBezTo>
                <a:cubicBezTo>
                  <a:pt x="1899271" y="-9611"/>
                  <a:pt x="1966289" y="29692"/>
                  <a:pt x="1733809" y="18288"/>
                </a:cubicBezTo>
                <a:cubicBezTo>
                  <a:pt x="1501329" y="6884"/>
                  <a:pt x="1343612" y="12492"/>
                  <a:pt x="1085146" y="18288"/>
                </a:cubicBezTo>
                <a:cubicBezTo>
                  <a:pt x="826680" y="24084"/>
                  <a:pt x="778184" y="35607"/>
                  <a:pt x="521355" y="18288"/>
                </a:cubicBezTo>
                <a:cubicBezTo>
                  <a:pt x="264526" y="969"/>
                  <a:pt x="120277" y="4268"/>
                  <a:pt x="0" y="18288"/>
                </a:cubicBezTo>
                <a:cubicBezTo>
                  <a:pt x="766" y="10800"/>
                  <a:pt x="-457" y="8180"/>
                  <a:pt x="0" y="0"/>
                </a:cubicBezTo>
                <a:close/>
              </a:path>
            </a:pathLst>
          </a:custGeom>
          <a:solidFill>
            <a:srgbClr val="FFFFFF">
              <a:alpha val="75000"/>
            </a:srgbClr>
          </a:solidFill>
          <a:ln w="44450" cap="rnd">
            <a:solidFill>
              <a:srgbClr val="FFFFFF">
                <a:alpha val="75000"/>
              </a:srgbClr>
            </a:solidFill>
            <a:round/>
            <a:extLst>
              <a:ext uri="{C807C97D-BFC1-408E-A445-0C87EB9F89A2}">
                <ask:lineSketchStyleProps xmlns:ask="http://schemas.microsoft.com/office/drawing/2018/sketchyshapes" sd="2727557108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8496034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055" name="Rectangle 2054">
            <a:extLst>
              <a:ext uri="{FF2B5EF4-FFF2-40B4-BE49-F238E27FC236}">
                <a16:creationId xmlns:a16="http://schemas.microsoft.com/office/drawing/2014/main" id="{1A9F7B4E-B03D-4F64-BE33-00D074458D4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98C4EFA8-F9BE-10AE-41C5-F6D4A140672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alphaModFix amt="4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20" y="10"/>
            <a:ext cx="12191979" cy="68579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8E8E79F7-96EA-2CBE-3BCF-2EF331435E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de-DE" sz="5400">
                <a:solidFill>
                  <a:srgbClr val="FFFFFF"/>
                </a:solidFill>
              </a:rPr>
              <a:t>Table of Content</a:t>
            </a:r>
          </a:p>
        </p:txBody>
      </p:sp>
      <p:sp>
        <p:nvSpPr>
          <p:cNvPr id="2057" name="sketchy line">
            <a:extLst>
              <a:ext uri="{FF2B5EF4-FFF2-40B4-BE49-F238E27FC236}">
                <a16:creationId xmlns:a16="http://schemas.microsoft.com/office/drawing/2014/main" id="{7E2BE7F7-CA89-4002-ACCE-A478AEA24F5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914399" y="1681544"/>
            <a:ext cx="9692640" cy="18288"/>
          </a:xfrm>
          <a:custGeom>
            <a:avLst/>
            <a:gdLst>
              <a:gd name="connsiteX0" fmla="*/ 0 w 9692640"/>
              <a:gd name="connsiteY0" fmla="*/ 0 h 18288"/>
              <a:gd name="connsiteX1" fmla="*/ 401552 w 9692640"/>
              <a:gd name="connsiteY1" fmla="*/ 0 h 18288"/>
              <a:gd name="connsiteX2" fmla="*/ 996957 w 9692640"/>
              <a:gd name="connsiteY2" fmla="*/ 0 h 18288"/>
              <a:gd name="connsiteX3" fmla="*/ 1398509 w 9692640"/>
              <a:gd name="connsiteY3" fmla="*/ 0 h 18288"/>
              <a:gd name="connsiteX4" fmla="*/ 2090841 w 9692640"/>
              <a:gd name="connsiteY4" fmla="*/ 0 h 18288"/>
              <a:gd name="connsiteX5" fmla="*/ 2686246 w 9692640"/>
              <a:gd name="connsiteY5" fmla="*/ 0 h 18288"/>
              <a:gd name="connsiteX6" fmla="*/ 3475504 w 9692640"/>
              <a:gd name="connsiteY6" fmla="*/ 0 h 18288"/>
              <a:gd name="connsiteX7" fmla="*/ 4361688 w 9692640"/>
              <a:gd name="connsiteY7" fmla="*/ 0 h 18288"/>
              <a:gd name="connsiteX8" fmla="*/ 5054019 w 9692640"/>
              <a:gd name="connsiteY8" fmla="*/ 0 h 18288"/>
              <a:gd name="connsiteX9" fmla="*/ 5940204 w 9692640"/>
              <a:gd name="connsiteY9" fmla="*/ 0 h 18288"/>
              <a:gd name="connsiteX10" fmla="*/ 6632535 w 9692640"/>
              <a:gd name="connsiteY10" fmla="*/ 0 h 18288"/>
              <a:gd name="connsiteX11" fmla="*/ 7034087 w 9692640"/>
              <a:gd name="connsiteY11" fmla="*/ 0 h 18288"/>
              <a:gd name="connsiteX12" fmla="*/ 7532566 w 9692640"/>
              <a:gd name="connsiteY12" fmla="*/ 0 h 18288"/>
              <a:gd name="connsiteX13" fmla="*/ 8418750 w 9692640"/>
              <a:gd name="connsiteY13" fmla="*/ 0 h 18288"/>
              <a:gd name="connsiteX14" fmla="*/ 9692640 w 9692640"/>
              <a:gd name="connsiteY14" fmla="*/ 0 h 18288"/>
              <a:gd name="connsiteX15" fmla="*/ 9692640 w 9692640"/>
              <a:gd name="connsiteY15" fmla="*/ 18288 h 18288"/>
              <a:gd name="connsiteX16" fmla="*/ 9000309 w 9692640"/>
              <a:gd name="connsiteY16" fmla="*/ 18288 h 18288"/>
              <a:gd name="connsiteX17" fmla="*/ 8307977 w 9692640"/>
              <a:gd name="connsiteY17" fmla="*/ 18288 h 18288"/>
              <a:gd name="connsiteX18" fmla="*/ 7712572 w 9692640"/>
              <a:gd name="connsiteY18" fmla="*/ 18288 h 18288"/>
              <a:gd name="connsiteX19" fmla="*/ 7214093 w 9692640"/>
              <a:gd name="connsiteY19" fmla="*/ 18288 h 18288"/>
              <a:gd name="connsiteX20" fmla="*/ 6327909 w 9692640"/>
              <a:gd name="connsiteY20" fmla="*/ 18288 h 18288"/>
              <a:gd name="connsiteX21" fmla="*/ 5635578 w 9692640"/>
              <a:gd name="connsiteY21" fmla="*/ 18288 h 18288"/>
              <a:gd name="connsiteX22" fmla="*/ 4846320 w 9692640"/>
              <a:gd name="connsiteY22" fmla="*/ 18288 h 18288"/>
              <a:gd name="connsiteX23" fmla="*/ 4444768 w 9692640"/>
              <a:gd name="connsiteY23" fmla="*/ 18288 h 18288"/>
              <a:gd name="connsiteX24" fmla="*/ 3946289 w 9692640"/>
              <a:gd name="connsiteY24" fmla="*/ 18288 h 18288"/>
              <a:gd name="connsiteX25" fmla="*/ 3253958 w 9692640"/>
              <a:gd name="connsiteY25" fmla="*/ 18288 h 18288"/>
              <a:gd name="connsiteX26" fmla="*/ 2464700 w 9692640"/>
              <a:gd name="connsiteY26" fmla="*/ 18288 h 18288"/>
              <a:gd name="connsiteX27" fmla="*/ 2063148 w 9692640"/>
              <a:gd name="connsiteY27" fmla="*/ 18288 h 18288"/>
              <a:gd name="connsiteX28" fmla="*/ 1661595 w 9692640"/>
              <a:gd name="connsiteY28" fmla="*/ 18288 h 18288"/>
              <a:gd name="connsiteX29" fmla="*/ 969264 w 9692640"/>
              <a:gd name="connsiteY29" fmla="*/ 18288 h 18288"/>
              <a:gd name="connsiteX30" fmla="*/ 0 w 9692640"/>
              <a:gd name="connsiteY30" fmla="*/ 18288 h 18288"/>
              <a:gd name="connsiteX31" fmla="*/ 0 w 9692640"/>
              <a:gd name="connsiteY31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</a:cxnLst>
            <a:rect l="l" t="t" r="r" b="b"/>
            <a:pathLst>
              <a:path w="9692640" h="18288" fill="none" extrusionOk="0">
                <a:moveTo>
                  <a:pt x="0" y="0"/>
                </a:moveTo>
                <a:cubicBezTo>
                  <a:pt x="142992" y="4732"/>
                  <a:pt x="265909" y="-3365"/>
                  <a:pt x="401552" y="0"/>
                </a:cubicBezTo>
                <a:cubicBezTo>
                  <a:pt x="537195" y="3365"/>
                  <a:pt x="738153" y="6482"/>
                  <a:pt x="996957" y="0"/>
                </a:cubicBezTo>
                <a:cubicBezTo>
                  <a:pt x="1255762" y="-6482"/>
                  <a:pt x="1280511" y="12509"/>
                  <a:pt x="1398509" y="0"/>
                </a:cubicBezTo>
                <a:cubicBezTo>
                  <a:pt x="1516507" y="-12509"/>
                  <a:pt x="1782573" y="-31523"/>
                  <a:pt x="2090841" y="0"/>
                </a:cubicBezTo>
                <a:cubicBezTo>
                  <a:pt x="2399109" y="31523"/>
                  <a:pt x="2488380" y="26286"/>
                  <a:pt x="2686246" y="0"/>
                </a:cubicBezTo>
                <a:cubicBezTo>
                  <a:pt x="2884112" y="-26286"/>
                  <a:pt x="3186024" y="-14734"/>
                  <a:pt x="3475504" y="0"/>
                </a:cubicBezTo>
                <a:cubicBezTo>
                  <a:pt x="3764984" y="14734"/>
                  <a:pt x="4053017" y="43292"/>
                  <a:pt x="4361688" y="0"/>
                </a:cubicBezTo>
                <a:cubicBezTo>
                  <a:pt x="4670359" y="-43292"/>
                  <a:pt x="4736164" y="-729"/>
                  <a:pt x="5054019" y="0"/>
                </a:cubicBezTo>
                <a:cubicBezTo>
                  <a:pt x="5371874" y="729"/>
                  <a:pt x="5543528" y="-22963"/>
                  <a:pt x="5940204" y="0"/>
                </a:cubicBezTo>
                <a:cubicBezTo>
                  <a:pt x="6336881" y="22963"/>
                  <a:pt x="6423838" y="6469"/>
                  <a:pt x="6632535" y="0"/>
                </a:cubicBezTo>
                <a:cubicBezTo>
                  <a:pt x="6841232" y="-6469"/>
                  <a:pt x="6852819" y="17036"/>
                  <a:pt x="7034087" y="0"/>
                </a:cubicBezTo>
                <a:cubicBezTo>
                  <a:pt x="7215355" y="-17036"/>
                  <a:pt x="7313136" y="11151"/>
                  <a:pt x="7532566" y="0"/>
                </a:cubicBezTo>
                <a:cubicBezTo>
                  <a:pt x="7751996" y="-11151"/>
                  <a:pt x="8015001" y="25614"/>
                  <a:pt x="8418750" y="0"/>
                </a:cubicBezTo>
                <a:cubicBezTo>
                  <a:pt x="8822499" y="-25614"/>
                  <a:pt x="9163239" y="48603"/>
                  <a:pt x="9692640" y="0"/>
                </a:cubicBezTo>
                <a:cubicBezTo>
                  <a:pt x="9691955" y="4437"/>
                  <a:pt x="9693170" y="10717"/>
                  <a:pt x="9692640" y="18288"/>
                </a:cubicBezTo>
                <a:cubicBezTo>
                  <a:pt x="9545125" y="42172"/>
                  <a:pt x="9164259" y="6706"/>
                  <a:pt x="9000309" y="18288"/>
                </a:cubicBezTo>
                <a:cubicBezTo>
                  <a:pt x="8836359" y="29870"/>
                  <a:pt x="8521035" y="-14108"/>
                  <a:pt x="8307977" y="18288"/>
                </a:cubicBezTo>
                <a:cubicBezTo>
                  <a:pt x="8094919" y="50684"/>
                  <a:pt x="7881757" y="11235"/>
                  <a:pt x="7712572" y="18288"/>
                </a:cubicBezTo>
                <a:cubicBezTo>
                  <a:pt x="7543387" y="25341"/>
                  <a:pt x="7358861" y="20625"/>
                  <a:pt x="7214093" y="18288"/>
                </a:cubicBezTo>
                <a:cubicBezTo>
                  <a:pt x="7069325" y="15951"/>
                  <a:pt x="6523705" y="52160"/>
                  <a:pt x="6327909" y="18288"/>
                </a:cubicBezTo>
                <a:cubicBezTo>
                  <a:pt x="6132113" y="-15584"/>
                  <a:pt x="5923847" y="21204"/>
                  <a:pt x="5635578" y="18288"/>
                </a:cubicBezTo>
                <a:cubicBezTo>
                  <a:pt x="5347309" y="15372"/>
                  <a:pt x="5114749" y="50642"/>
                  <a:pt x="4846320" y="18288"/>
                </a:cubicBezTo>
                <a:cubicBezTo>
                  <a:pt x="4577891" y="-14066"/>
                  <a:pt x="4576701" y="1487"/>
                  <a:pt x="4444768" y="18288"/>
                </a:cubicBezTo>
                <a:cubicBezTo>
                  <a:pt x="4312835" y="35089"/>
                  <a:pt x="4112575" y="15158"/>
                  <a:pt x="3946289" y="18288"/>
                </a:cubicBezTo>
                <a:cubicBezTo>
                  <a:pt x="3780003" y="21418"/>
                  <a:pt x="3396009" y="18797"/>
                  <a:pt x="3253958" y="18288"/>
                </a:cubicBezTo>
                <a:cubicBezTo>
                  <a:pt x="3111907" y="17779"/>
                  <a:pt x="2760272" y="57223"/>
                  <a:pt x="2464700" y="18288"/>
                </a:cubicBezTo>
                <a:cubicBezTo>
                  <a:pt x="2169128" y="-20647"/>
                  <a:pt x="2232262" y="7960"/>
                  <a:pt x="2063148" y="18288"/>
                </a:cubicBezTo>
                <a:cubicBezTo>
                  <a:pt x="1894034" y="28616"/>
                  <a:pt x="1799338" y="3019"/>
                  <a:pt x="1661595" y="18288"/>
                </a:cubicBezTo>
                <a:cubicBezTo>
                  <a:pt x="1523852" y="33557"/>
                  <a:pt x="1113928" y="-4352"/>
                  <a:pt x="969264" y="18288"/>
                </a:cubicBezTo>
                <a:cubicBezTo>
                  <a:pt x="824600" y="40928"/>
                  <a:pt x="356149" y="-3128"/>
                  <a:pt x="0" y="18288"/>
                </a:cubicBezTo>
                <a:cubicBezTo>
                  <a:pt x="-540" y="12521"/>
                  <a:pt x="894" y="7749"/>
                  <a:pt x="0" y="0"/>
                </a:cubicBezTo>
                <a:close/>
              </a:path>
              <a:path w="9692640" h="18288" stroke="0" extrusionOk="0">
                <a:moveTo>
                  <a:pt x="0" y="0"/>
                </a:moveTo>
                <a:cubicBezTo>
                  <a:pt x="162642" y="3864"/>
                  <a:pt x="346119" y="-18364"/>
                  <a:pt x="498479" y="0"/>
                </a:cubicBezTo>
                <a:cubicBezTo>
                  <a:pt x="650839" y="18364"/>
                  <a:pt x="712065" y="-9389"/>
                  <a:pt x="900031" y="0"/>
                </a:cubicBezTo>
                <a:cubicBezTo>
                  <a:pt x="1087997" y="9389"/>
                  <a:pt x="1177291" y="3685"/>
                  <a:pt x="1398509" y="0"/>
                </a:cubicBezTo>
                <a:cubicBezTo>
                  <a:pt x="1619727" y="-3685"/>
                  <a:pt x="1874008" y="-8897"/>
                  <a:pt x="2090841" y="0"/>
                </a:cubicBezTo>
                <a:cubicBezTo>
                  <a:pt x="2307674" y="8897"/>
                  <a:pt x="2573432" y="-313"/>
                  <a:pt x="2880099" y="0"/>
                </a:cubicBezTo>
                <a:cubicBezTo>
                  <a:pt x="3186766" y="313"/>
                  <a:pt x="3422577" y="10664"/>
                  <a:pt x="3766283" y="0"/>
                </a:cubicBezTo>
                <a:cubicBezTo>
                  <a:pt x="4109989" y="-10664"/>
                  <a:pt x="4342683" y="-32873"/>
                  <a:pt x="4652467" y="0"/>
                </a:cubicBezTo>
                <a:cubicBezTo>
                  <a:pt x="4962251" y="32873"/>
                  <a:pt x="5122120" y="29155"/>
                  <a:pt x="5247872" y="0"/>
                </a:cubicBezTo>
                <a:cubicBezTo>
                  <a:pt x="5373625" y="-29155"/>
                  <a:pt x="5749491" y="1706"/>
                  <a:pt x="6037130" y="0"/>
                </a:cubicBezTo>
                <a:cubicBezTo>
                  <a:pt x="6324769" y="-1706"/>
                  <a:pt x="6531407" y="1172"/>
                  <a:pt x="6729461" y="0"/>
                </a:cubicBezTo>
                <a:cubicBezTo>
                  <a:pt x="6927515" y="-1172"/>
                  <a:pt x="7096794" y="-1520"/>
                  <a:pt x="7324867" y="0"/>
                </a:cubicBezTo>
                <a:cubicBezTo>
                  <a:pt x="7552940" y="1520"/>
                  <a:pt x="7878827" y="-17110"/>
                  <a:pt x="8114124" y="0"/>
                </a:cubicBezTo>
                <a:cubicBezTo>
                  <a:pt x="8349421" y="17110"/>
                  <a:pt x="8334208" y="15114"/>
                  <a:pt x="8515677" y="0"/>
                </a:cubicBezTo>
                <a:cubicBezTo>
                  <a:pt x="8697146" y="-15114"/>
                  <a:pt x="9236164" y="22466"/>
                  <a:pt x="9692640" y="0"/>
                </a:cubicBezTo>
                <a:cubicBezTo>
                  <a:pt x="9692735" y="8251"/>
                  <a:pt x="9692514" y="12333"/>
                  <a:pt x="9692640" y="18288"/>
                </a:cubicBezTo>
                <a:cubicBezTo>
                  <a:pt x="9410102" y="47398"/>
                  <a:pt x="9172773" y="7109"/>
                  <a:pt x="9000309" y="18288"/>
                </a:cubicBezTo>
                <a:cubicBezTo>
                  <a:pt x="8827845" y="29467"/>
                  <a:pt x="8713608" y="28372"/>
                  <a:pt x="8501830" y="18288"/>
                </a:cubicBezTo>
                <a:cubicBezTo>
                  <a:pt x="8290052" y="8204"/>
                  <a:pt x="7893416" y="3561"/>
                  <a:pt x="7712572" y="18288"/>
                </a:cubicBezTo>
                <a:cubicBezTo>
                  <a:pt x="7531728" y="33015"/>
                  <a:pt x="7480716" y="17052"/>
                  <a:pt x="7311020" y="18288"/>
                </a:cubicBezTo>
                <a:cubicBezTo>
                  <a:pt x="7141324" y="19524"/>
                  <a:pt x="6962706" y="15975"/>
                  <a:pt x="6618688" y="18288"/>
                </a:cubicBezTo>
                <a:cubicBezTo>
                  <a:pt x="6274670" y="20601"/>
                  <a:pt x="6230664" y="-1692"/>
                  <a:pt x="6120210" y="18288"/>
                </a:cubicBezTo>
                <a:cubicBezTo>
                  <a:pt x="6009756" y="38268"/>
                  <a:pt x="5442516" y="28115"/>
                  <a:pt x="5234026" y="18288"/>
                </a:cubicBezTo>
                <a:cubicBezTo>
                  <a:pt x="5025536" y="8461"/>
                  <a:pt x="4953693" y="18182"/>
                  <a:pt x="4832473" y="18288"/>
                </a:cubicBezTo>
                <a:cubicBezTo>
                  <a:pt x="4711253" y="18394"/>
                  <a:pt x="4414565" y="-11251"/>
                  <a:pt x="4140142" y="18288"/>
                </a:cubicBezTo>
                <a:cubicBezTo>
                  <a:pt x="3865719" y="47827"/>
                  <a:pt x="3819081" y="16772"/>
                  <a:pt x="3738590" y="18288"/>
                </a:cubicBezTo>
                <a:cubicBezTo>
                  <a:pt x="3658099" y="19804"/>
                  <a:pt x="3427576" y="1385"/>
                  <a:pt x="3240111" y="18288"/>
                </a:cubicBezTo>
                <a:cubicBezTo>
                  <a:pt x="3052646" y="35191"/>
                  <a:pt x="2749652" y="-13914"/>
                  <a:pt x="2450853" y="18288"/>
                </a:cubicBezTo>
                <a:cubicBezTo>
                  <a:pt x="2152054" y="50490"/>
                  <a:pt x="1928331" y="61101"/>
                  <a:pt x="1564669" y="18288"/>
                </a:cubicBezTo>
                <a:cubicBezTo>
                  <a:pt x="1201007" y="-24525"/>
                  <a:pt x="1217828" y="-275"/>
                  <a:pt x="1066190" y="18288"/>
                </a:cubicBezTo>
                <a:cubicBezTo>
                  <a:pt x="914552" y="36851"/>
                  <a:pt x="418290" y="-14785"/>
                  <a:pt x="0" y="18288"/>
                </a:cubicBezTo>
                <a:cubicBezTo>
                  <a:pt x="641" y="14236"/>
                  <a:pt x="889" y="7550"/>
                  <a:pt x="0" y="0"/>
                </a:cubicBezTo>
                <a:close/>
              </a:path>
            </a:pathLst>
          </a:custGeom>
          <a:solidFill>
            <a:srgbClr val="FFFFFF">
              <a:alpha val="75000"/>
            </a:srgbClr>
          </a:solidFill>
          <a:ln w="44450" cap="rnd">
            <a:solidFill>
              <a:srgbClr val="FFFFFF">
                <a:alpha val="75000"/>
              </a:srgbClr>
            </a:solidFill>
            <a:round/>
            <a:extLst>
              <a:ext uri="{C807C97D-BFC1-408E-A445-0C87EB9F89A2}">
                <ask:lineSketchStyleProps xmlns:ask="http://schemas.microsoft.com/office/drawing/2018/sketchyshapes" sd="2727557108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4CFEA40D-B157-6874-FF12-40B69D1A81D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004446"/>
            <a:ext cx="10515600" cy="4176897"/>
          </a:xfrm>
        </p:spPr>
        <p:txBody>
          <a:bodyPr>
            <a:normAutofit/>
          </a:bodyPr>
          <a:lstStyle/>
          <a:p>
            <a:pPr marL="457200" indent="-457200">
              <a:buFont typeface="+mj-lt"/>
              <a:buAutoNum type="arabicPeriod"/>
            </a:pPr>
            <a:r>
              <a:rPr lang="de-DE" sz="2400" b="1" dirty="0" err="1">
                <a:solidFill>
                  <a:srgbClr val="FFFFFF"/>
                </a:solidFill>
              </a:rPr>
              <a:t>Recap</a:t>
            </a:r>
            <a:r>
              <a:rPr lang="de-DE" sz="2400" b="1" dirty="0">
                <a:solidFill>
                  <a:srgbClr val="FFFFFF"/>
                </a:solidFill>
              </a:rPr>
              <a:t> </a:t>
            </a:r>
            <a:r>
              <a:rPr lang="de-DE" sz="2400" b="1" dirty="0" err="1">
                <a:solidFill>
                  <a:srgbClr val="FFFFFF"/>
                </a:solidFill>
              </a:rPr>
              <a:t>of</a:t>
            </a:r>
            <a:r>
              <a:rPr lang="de-DE" sz="2400" b="1" dirty="0">
                <a:solidFill>
                  <a:srgbClr val="FFFFFF"/>
                </a:solidFill>
              </a:rPr>
              <a:t> </a:t>
            </a:r>
            <a:r>
              <a:rPr lang="de-DE" sz="2400" b="1" dirty="0" err="1">
                <a:solidFill>
                  <a:srgbClr val="FFFFFF"/>
                </a:solidFill>
              </a:rPr>
              <a:t>project</a:t>
            </a:r>
            <a:r>
              <a:rPr lang="de-DE" sz="2400" b="1" dirty="0">
                <a:solidFill>
                  <a:srgbClr val="FFFFFF"/>
                </a:solidFill>
              </a:rPr>
              <a:t> </a:t>
            </a:r>
            <a:r>
              <a:rPr lang="de-DE" sz="2400" b="1" dirty="0" err="1">
                <a:solidFill>
                  <a:srgbClr val="FFFFFF"/>
                </a:solidFill>
              </a:rPr>
              <a:t>aim</a:t>
            </a:r>
            <a:r>
              <a:rPr lang="de-DE" sz="2400" b="1" dirty="0">
                <a:solidFill>
                  <a:srgbClr val="FFFFFF"/>
                </a:solidFill>
              </a:rPr>
              <a:t> and </a:t>
            </a:r>
            <a:r>
              <a:rPr lang="de-DE" sz="2400" b="1" dirty="0" err="1">
                <a:solidFill>
                  <a:srgbClr val="FFFFFF"/>
                </a:solidFill>
              </a:rPr>
              <a:t>challenges</a:t>
            </a:r>
            <a:endParaRPr lang="de-DE" sz="2400" b="1" dirty="0">
              <a:solidFill>
                <a:srgbClr val="FFFFFF"/>
              </a:solidFill>
            </a:endParaRPr>
          </a:p>
          <a:p>
            <a:pPr marL="457200" indent="-457200">
              <a:buFont typeface="+mj-lt"/>
              <a:buAutoNum type="arabicPeriod"/>
            </a:pPr>
            <a:r>
              <a:rPr lang="de-DE" sz="2400" b="1" dirty="0" err="1">
                <a:solidFill>
                  <a:srgbClr val="FFFFFF"/>
                </a:solidFill>
              </a:rPr>
              <a:t>Methodology</a:t>
            </a:r>
            <a:endParaRPr lang="de-DE" sz="2400" b="1" dirty="0">
              <a:solidFill>
                <a:srgbClr val="FFFFFF"/>
              </a:solidFill>
            </a:endParaRPr>
          </a:p>
          <a:p>
            <a:pPr marL="457200" indent="-457200">
              <a:buFont typeface="+mj-lt"/>
              <a:buAutoNum type="arabicPeriod"/>
            </a:pPr>
            <a:r>
              <a:rPr lang="de-DE" sz="2400" b="1" dirty="0">
                <a:solidFill>
                  <a:srgbClr val="FFFFFF"/>
                </a:solidFill>
              </a:rPr>
              <a:t>Sneak Peak and </a:t>
            </a:r>
            <a:r>
              <a:rPr lang="de-DE" sz="2400" b="1" dirty="0" err="1">
                <a:solidFill>
                  <a:srgbClr val="FFFFFF"/>
                </a:solidFill>
              </a:rPr>
              <a:t>general</a:t>
            </a:r>
            <a:r>
              <a:rPr lang="de-DE" sz="2400" b="1" dirty="0">
                <a:solidFill>
                  <a:srgbClr val="FFFFFF"/>
                </a:solidFill>
              </a:rPr>
              <a:t> </a:t>
            </a:r>
            <a:r>
              <a:rPr lang="de-DE" sz="2400" b="1" dirty="0" err="1">
                <a:solidFill>
                  <a:srgbClr val="FFFFFF"/>
                </a:solidFill>
              </a:rPr>
              <a:t>insights</a:t>
            </a:r>
            <a:endParaRPr lang="de-DE" sz="2400" b="1" dirty="0">
              <a:solidFill>
                <a:srgbClr val="FFFFFF"/>
              </a:solidFill>
            </a:endParaRPr>
          </a:p>
          <a:p>
            <a:pPr marL="457200" indent="-457200">
              <a:buFont typeface="+mj-lt"/>
              <a:buAutoNum type="arabicPeriod"/>
            </a:pPr>
            <a:r>
              <a:rPr lang="de-DE" sz="2400" b="1" dirty="0">
                <a:solidFill>
                  <a:srgbClr val="FFFFFF"/>
                </a:solidFill>
              </a:rPr>
              <a:t>Showcase – </a:t>
            </a:r>
            <a:r>
              <a:rPr lang="de-DE" sz="2400" b="1" dirty="0" err="1">
                <a:solidFill>
                  <a:srgbClr val="FFFFFF"/>
                </a:solidFill>
              </a:rPr>
              <a:t>Predict</a:t>
            </a:r>
            <a:r>
              <a:rPr lang="de-DE" sz="2400" b="1" dirty="0">
                <a:solidFill>
                  <a:srgbClr val="FFFFFF"/>
                </a:solidFill>
              </a:rPr>
              <a:t> in </a:t>
            </a:r>
            <a:r>
              <a:rPr lang="de-DE" sz="2400" b="1" dirty="0" err="1">
                <a:solidFill>
                  <a:srgbClr val="FFFFFF"/>
                </a:solidFill>
              </a:rPr>
              <a:t>Production</a:t>
            </a:r>
            <a:endParaRPr lang="de-DE" sz="2400" b="1" dirty="0">
              <a:solidFill>
                <a:srgbClr val="FFFFFF"/>
              </a:solidFill>
            </a:endParaRPr>
          </a:p>
          <a:p>
            <a:pPr marL="457200" indent="-457200">
              <a:buFont typeface="+mj-lt"/>
              <a:buAutoNum type="arabicPeriod"/>
            </a:pPr>
            <a:r>
              <a:rPr lang="de-DE" sz="2400" b="1" dirty="0" err="1">
                <a:solidFill>
                  <a:srgbClr val="FFFFFF"/>
                </a:solidFill>
              </a:rPr>
              <a:t>Lessons</a:t>
            </a:r>
            <a:r>
              <a:rPr lang="de-DE" sz="2400" b="1" dirty="0">
                <a:solidFill>
                  <a:srgbClr val="FFFFFF"/>
                </a:solidFill>
              </a:rPr>
              <a:t> </a:t>
            </a:r>
            <a:r>
              <a:rPr lang="de-DE" sz="2400" b="1" dirty="0" err="1">
                <a:solidFill>
                  <a:srgbClr val="FFFFFF"/>
                </a:solidFill>
              </a:rPr>
              <a:t>Learned</a:t>
            </a:r>
            <a:r>
              <a:rPr lang="de-DE" sz="2400" b="1" dirty="0">
                <a:solidFill>
                  <a:srgbClr val="FFFFFF"/>
                </a:solidFill>
              </a:rPr>
              <a:t> and Outlook</a:t>
            </a:r>
          </a:p>
        </p:txBody>
      </p:sp>
    </p:spTree>
    <p:extLst>
      <p:ext uri="{BB962C8B-B14F-4D97-AF65-F5344CB8AC3E}">
        <p14:creationId xmlns:p14="http://schemas.microsoft.com/office/powerpoint/2010/main" val="3206130098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089" name="Rectangle 3080">
            <a:extLst>
              <a:ext uri="{FF2B5EF4-FFF2-40B4-BE49-F238E27FC236}">
                <a16:creationId xmlns:a16="http://schemas.microsoft.com/office/drawing/2014/main" id="{F13C74B1-5B17-4795-BED0-7140497B445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8E8E79F7-96EA-2CBE-3BCF-2EF331435E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" y="325369"/>
            <a:ext cx="4368602" cy="1956841"/>
          </a:xfrm>
        </p:spPr>
        <p:txBody>
          <a:bodyPr anchor="b">
            <a:normAutofit/>
          </a:bodyPr>
          <a:lstStyle/>
          <a:p>
            <a:r>
              <a:rPr lang="de-DE" sz="4600" dirty="0" err="1"/>
              <a:t>Recap</a:t>
            </a:r>
            <a:r>
              <a:rPr lang="de-DE" sz="4600" dirty="0"/>
              <a:t>: Problem Statement </a:t>
            </a:r>
          </a:p>
        </p:txBody>
      </p:sp>
      <p:sp>
        <p:nvSpPr>
          <p:cNvPr id="3083" name="sketchy line">
            <a:extLst>
              <a:ext uri="{FF2B5EF4-FFF2-40B4-BE49-F238E27FC236}">
                <a16:creationId xmlns:a16="http://schemas.microsoft.com/office/drawing/2014/main" id="{D4974D33-8DC5-464E-8C6D-BE58F0669C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0080" y="2586994"/>
            <a:ext cx="3474720" cy="18288"/>
          </a:xfrm>
          <a:custGeom>
            <a:avLst/>
            <a:gdLst>
              <a:gd name="connsiteX0" fmla="*/ 0 w 3474720"/>
              <a:gd name="connsiteY0" fmla="*/ 0 h 18288"/>
              <a:gd name="connsiteX1" fmla="*/ 694944 w 3474720"/>
              <a:gd name="connsiteY1" fmla="*/ 0 h 18288"/>
              <a:gd name="connsiteX2" fmla="*/ 1355141 w 3474720"/>
              <a:gd name="connsiteY2" fmla="*/ 0 h 18288"/>
              <a:gd name="connsiteX3" fmla="*/ 2015338 w 3474720"/>
              <a:gd name="connsiteY3" fmla="*/ 0 h 18288"/>
              <a:gd name="connsiteX4" fmla="*/ 2779776 w 3474720"/>
              <a:gd name="connsiteY4" fmla="*/ 0 h 18288"/>
              <a:gd name="connsiteX5" fmla="*/ 3474720 w 3474720"/>
              <a:gd name="connsiteY5" fmla="*/ 0 h 18288"/>
              <a:gd name="connsiteX6" fmla="*/ 3474720 w 3474720"/>
              <a:gd name="connsiteY6" fmla="*/ 18288 h 18288"/>
              <a:gd name="connsiteX7" fmla="*/ 2779776 w 3474720"/>
              <a:gd name="connsiteY7" fmla="*/ 18288 h 18288"/>
              <a:gd name="connsiteX8" fmla="*/ 2189074 w 3474720"/>
              <a:gd name="connsiteY8" fmla="*/ 18288 h 18288"/>
              <a:gd name="connsiteX9" fmla="*/ 1528877 w 3474720"/>
              <a:gd name="connsiteY9" fmla="*/ 18288 h 18288"/>
              <a:gd name="connsiteX10" fmla="*/ 868680 w 3474720"/>
              <a:gd name="connsiteY10" fmla="*/ 18288 h 18288"/>
              <a:gd name="connsiteX11" fmla="*/ 0 w 3474720"/>
              <a:gd name="connsiteY11" fmla="*/ 18288 h 18288"/>
              <a:gd name="connsiteX12" fmla="*/ 0 w 3474720"/>
              <a:gd name="connsiteY12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3474720" h="18288" fill="none" extrusionOk="0">
                <a:moveTo>
                  <a:pt x="0" y="0"/>
                </a:moveTo>
                <a:cubicBezTo>
                  <a:pt x="224454" y="-14544"/>
                  <a:pt x="495407" y="26540"/>
                  <a:pt x="694944" y="0"/>
                </a:cubicBezTo>
                <a:cubicBezTo>
                  <a:pt x="894481" y="-26540"/>
                  <a:pt x="1130063" y="24713"/>
                  <a:pt x="1355141" y="0"/>
                </a:cubicBezTo>
                <a:cubicBezTo>
                  <a:pt x="1580219" y="-24713"/>
                  <a:pt x="1820099" y="26695"/>
                  <a:pt x="2015338" y="0"/>
                </a:cubicBezTo>
                <a:cubicBezTo>
                  <a:pt x="2210577" y="-26695"/>
                  <a:pt x="2402045" y="165"/>
                  <a:pt x="2779776" y="0"/>
                </a:cubicBezTo>
                <a:cubicBezTo>
                  <a:pt x="3157507" y="-165"/>
                  <a:pt x="3286859" y="-15571"/>
                  <a:pt x="3474720" y="0"/>
                </a:cubicBezTo>
                <a:cubicBezTo>
                  <a:pt x="3474286" y="7551"/>
                  <a:pt x="3474253" y="9822"/>
                  <a:pt x="3474720" y="18288"/>
                </a:cubicBezTo>
                <a:cubicBezTo>
                  <a:pt x="3233904" y="29845"/>
                  <a:pt x="2945134" y="-5256"/>
                  <a:pt x="2779776" y="18288"/>
                </a:cubicBezTo>
                <a:cubicBezTo>
                  <a:pt x="2614418" y="41832"/>
                  <a:pt x="2339768" y="22709"/>
                  <a:pt x="2189074" y="18288"/>
                </a:cubicBezTo>
                <a:cubicBezTo>
                  <a:pt x="2038380" y="13867"/>
                  <a:pt x="1817434" y="-4947"/>
                  <a:pt x="1528877" y="18288"/>
                </a:cubicBezTo>
                <a:cubicBezTo>
                  <a:pt x="1240320" y="41523"/>
                  <a:pt x="1042447" y="37198"/>
                  <a:pt x="868680" y="18288"/>
                </a:cubicBezTo>
                <a:cubicBezTo>
                  <a:pt x="694913" y="-622"/>
                  <a:pt x="233232" y="44909"/>
                  <a:pt x="0" y="18288"/>
                </a:cubicBezTo>
                <a:cubicBezTo>
                  <a:pt x="60" y="11696"/>
                  <a:pt x="66" y="3758"/>
                  <a:pt x="0" y="0"/>
                </a:cubicBezTo>
                <a:close/>
              </a:path>
              <a:path w="3474720" h="18288" stroke="0" extrusionOk="0">
                <a:moveTo>
                  <a:pt x="0" y="0"/>
                </a:moveTo>
                <a:cubicBezTo>
                  <a:pt x="202328" y="-14716"/>
                  <a:pt x="332722" y="-11499"/>
                  <a:pt x="625450" y="0"/>
                </a:cubicBezTo>
                <a:cubicBezTo>
                  <a:pt x="918178" y="11499"/>
                  <a:pt x="1096688" y="5123"/>
                  <a:pt x="1389888" y="0"/>
                </a:cubicBezTo>
                <a:cubicBezTo>
                  <a:pt x="1683088" y="-5123"/>
                  <a:pt x="1835981" y="-14038"/>
                  <a:pt x="1980590" y="0"/>
                </a:cubicBezTo>
                <a:cubicBezTo>
                  <a:pt x="2125199" y="14038"/>
                  <a:pt x="2396099" y="-7203"/>
                  <a:pt x="2571293" y="0"/>
                </a:cubicBezTo>
                <a:cubicBezTo>
                  <a:pt x="2746487" y="7203"/>
                  <a:pt x="3041609" y="-12036"/>
                  <a:pt x="3474720" y="0"/>
                </a:cubicBezTo>
                <a:cubicBezTo>
                  <a:pt x="3474638" y="4406"/>
                  <a:pt x="3474631" y="9982"/>
                  <a:pt x="3474720" y="18288"/>
                </a:cubicBezTo>
                <a:cubicBezTo>
                  <a:pt x="3324873" y="21876"/>
                  <a:pt x="3136771" y="12587"/>
                  <a:pt x="2814523" y="18288"/>
                </a:cubicBezTo>
                <a:cubicBezTo>
                  <a:pt x="2492275" y="23989"/>
                  <a:pt x="2294402" y="47111"/>
                  <a:pt x="2154326" y="18288"/>
                </a:cubicBezTo>
                <a:cubicBezTo>
                  <a:pt x="2014250" y="-10535"/>
                  <a:pt x="1820317" y="33903"/>
                  <a:pt x="1494130" y="18288"/>
                </a:cubicBezTo>
                <a:cubicBezTo>
                  <a:pt x="1167943" y="2673"/>
                  <a:pt x="948432" y="14868"/>
                  <a:pt x="729691" y="18288"/>
                </a:cubicBezTo>
                <a:cubicBezTo>
                  <a:pt x="510950" y="21708"/>
                  <a:pt x="264032" y="24354"/>
                  <a:pt x="0" y="18288"/>
                </a:cubicBezTo>
                <a:cubicBezTo>
                  <a:pt x="189" y="14288"/>
                  <a:pt x="-703" y="3747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4450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2863741219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78" name="Content Placeholder 3077">
            <a:extLst>
              <a:ext uri="{FF2B5EF4-FFF2-40B4-BE49-F238E27FC236}">
                <a16:creationId xmlns:a16="http://schemas.microsoft.com/office/drawing/2014/main" id="{DFF072D1-82BC-76E6-7251-A78B1ABA527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8411" y="2872899"/>
            <a:ext cx="5085567" cy="3309198"/>
          </a:xfrm>
        </p:spPr>
        <p:txBody>
          <a:bodyPr>
            <a:normAutofit/>
          </a:bodyPr>
          <a:lstStyle/>
          <a:p>
            <a:pPr rtl="0">
              <a:spcBef>
                <a:spcPts val="0"/>
              </a:spcBef>
              <a:spcAft>
                <a:spcPts val="0"/>
              </a:spcAft>
              <a:buFont typeface="Wingdings" panose="05000000000000000000" pitchFamily="2" charset="2"/>
              <a:buChar char="Ø"/>
            </a:pPr>
            <a:r>
              <a:rPr lang="en-US" sz="1800" dirty="0">
                <a:solidFill>
                  <a:srgbClr val="323232"/>
                </a:solidFill>
                <a:latin typeface="Arial" panose="020B0604020202020204" pitchFamily="34" charset="0"/>
              </a:rPr>
              <a:t>From dozens to thousands </a:t>
            </a:r>
            <a:r>
              <a:rPr lang="en-US" sz="1800" b="1" dirty="0">
                <a:solidFill>
                  <a:srgbClr val="323232"/>
                </a:solidFill>
                <a:latin typeface="Arial" panose="020B0604020202020204" pitchFamily="34" charset="0"/>
              </a:rPr>
              <a:t>protesters face injuries</a:t>
            </a:r>
            <a:r>
              <a:rPr lang="en-US" sz="1800" dirty="0">
                <a:solidFill>
                  <a:srgbClr val="323232"/>
                </a:solidFill>
                <a:latin typeface="Arial" panose="020B0604020202020204" pitchFamily="34" charset="0"/>
              </a:rPr>
              <a:t>, caused during contact  with law enforcement </a:t>
            </a:r>
          </a:p>
          <a:p>
            <a:pPr rtl="0">
              <a:spcBef>
                <a:spcPts val="0"/>
              </a:spcBef>
              <a:spcAft>
                <a:spcPts val="0"/>
              </a:spcAft>
              <a:buFont typeface="Wingdings" panose="05000000000000000000" pitchFamily="2" charset="2"/>
              <a:buChar char="Ø"/>
            </a:pPr>
            <a:r>
              <a:rPr lang="en-US" sz="1800" b="1" dirty="0">
                <a:solidFill>
                  <a:srgbClr val="323232"/>
                </a:solidFill>
                <a:latin typeface="Arial" panose="020B0604020202020204" pitchFamily="34" charset="0"/>
              </a:rPr>
              <a:t>Many of those injuries are lethal, or untreatable</a:t>
            </a:r>
          </a:p>
          <a:p>
            <a:pPr rtl="0">
              <a:spcBef>
                <a:spcPts val="0"/>
              </a:spcBef>
              <a:spcAft>
                <a:spcPts val="0"/>
              </a:spcAft>
              <a:buFont typeface="Wingdings" panose="05000000000000000000" pitchFamily="2" charset="2"/>
              <a:buChar char="Ø"/>
            </a:pPr>
            <a:r>
              <a:rPr lang="en-US" sz="1800" b="1" dirty="0">
                <a:solidFill>
                  <a:srgbClr val="323232"/>
                </a:solidFill>
                <a:latin typeface="Arial" panose="020B0604020202020204" pitchFamily="34" charset="0"/>
              </a:rPr>
              <a:t>State actors undermine their legitimacy </a:t>
            </a:r>
            <a:r>
              <a:rPr lang="en-US" sz="1800" dirty="0">
                <a:solidFill>
                  <a:srgbClr val="323232"/>
                </a:solidFill>
                <a:latin typeface="Arial" panose="020B0604020202020204" pitchFamily="34" charset="0"/>
              </a:rPr>
              <a:t>and lose the trust of their citizens</a:t>
            </a:r>
          </a:p>
          <a:p>
            <a:pPr rtl="0">
              <a:spcBef>
                <a:spcPts val="0"/>
              </a:spcBef>
              <a:spcAft>
                <a:spcPts val="0"/>
              </a:spcAft>
              <a:buFont typeface="Wingdings" panose="05000000000000000000" pitchFamily="2" charset="2"/>
              <a:buChar char="Ø"/>
            </a:pPr>
            <a:r>
              <a:rPr lang="en-US" sz="1800" b="1" dirty="0">
                <a:solidFill>
                  <a:srgbClr val="323232"/>
                </a:solidFill>
                <a:latin typeface="Arial" panose="020B0604020202020204" pitchFamily="34" charset="0"/>
              </a:rPr>
              <a:t>Peaceful protests are in everybody´s interest</a:t>
            </a:r>
          </a:p>
          <a:p>
            <a:pPr rtl="0">
              <a:spcBef>
                <a:spcPts val="0"/>
              </a:spcBef>
              <a:spcAft>
                <a:spcPts val="0"/>
              </a:spcAft>
              <a:buFont typeface="Wingdings" panose="05000000000000000000" pitchFamily="2" charset="2"/>
              <a:buChar char="Ø"/>
            </a:pPr>
            <a:r>
              <a:rPr lang="en-US" sz="1800" b="1" dirty="0">
                <a:solidFill>
                  <a:srgbClr val="323232"/>
                </a:solidFill>
                <a:latin typeface="Arial" panose="020B0604020202020204" pitchFamily="34" charset="0"/>
              </a:rPr>
              <a:t>Unfortunately little time is spent on trying to assess if a protest might turn violent or not…</a:t>
            </a:r>
            <a:br>
              <a:rPr lang="en-US" sz="1800" b="1" dirty="0">
                <a:solidFill>
                  <a:srgbClr val="323232"/>
                </a:solidFill>
                <a:latin typeface="Arial" panose="020B0604020202020204" pitchFamily="34" charset="0"/>
              </a:rPr>
            </a:br>
            <a:endParaRPr lang="en-US" sz="1800" b="1" dirty="0">
              <a:solidFill>
                <a:srgbClr val="323232"/>
              </a:solidFill>
              <a:latin typeface="Arial" panose="020B0604020202020204" pitchFamily="34" charset="0"/>
            </a:endParaRPr>
          </a:p>
        </p:txBody>
      </p:sp>
      <p:pic>
        <p:nvPicPr>
          <p:cNvPr id="3074" name="Picture 2">
            <a:extLst>
              <a:ext uri="{FF2B5EF4-FFF2-40B4-BE49-F238E27FC236}">
                <a16:creationId xmlns:a16="http://schemas.microsoft.com/office/drawing/2014/main" id="{E923BCC0-8004-536D-80D5-08781787D2CE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003" r="8577"/>
          <a:stretch/>
        </p:blipFill>
        <p:spPr bwMode="auto">
          <a:xfrm>
            <a:off x="5311702" y="10"/>
            <a:ext cx="6878775" cy="6857990"/>
          </a:xfrm>
          <a:custGeom>
            <a:avLst/>
            <a:gdLst/>
            <a:ahLst/>
            <a:cxnLst/>
            <a:rect l="l" t="t" r="r" b="b"/>
            <a:pathLst>
              <a:path w="6878775" h="6858000">
                <a:moveTo>
                  <a:pt x="1102973" y="0"/>
                </a:moveTo>
                <a:lnTo>
                  <a:pt x="1160688" y="0"/>
                </a:lnTo>
                <a:lnTo>
                  <a:pt x="983189" y="331786"/>
                </a:lnTo>
                <a:cubicBezTo>
                  <a:pt x="914866" y="469145"/>
                  <a:pt x="850355" y="608712"/>
                  <a:pt x="789261" y="750263"/>
                </a:cubicBezTo>
                <a:cubicBezTo>
                  <a:pt x="774307" y="784928"/>
                  <a:pt x="759992" y="819849"/>
                  <a:pt x="745295" y="854514"/>
                </a:cubicBezTo>
                <a:cubicBezTo>
                  <a:pt x="756682" y="845393"/>
                  <a:pt x="765489" y="833492"/>
                  <a:pt x="770857" y="819975"/>
                </a:cubicBezTo>
                <a:cubicBezTo>
                  <a:pt x="879943" y="589569"/>
                  <a:pt x="999605" y="365513"/>
                  <a:pt x="1131329" y="148742"/>
                </a:cubicBezTo>
                <a:lnTo>
                  <a:pt x="1227589" y="0"/>
                </a:lnTo>
                <a:lnTo>
                  <a:pt x="6878775" y="0"/>
                </a:lnTo>
                <a:lnTo>
                  <a:pt x="6878775" y="6858000"/>
                </a:lnTo>
                <a:lnTo>
                  <a:pt x="713521" y="6858000"/>
                </a:lnTo>
                <a:lnTo>
                  <a:pt x="625642" y="6670527"/>
                </a:lnTo>
                <a:cubicBezTo>
                  <a:pt x="507232" y="6398531"/>
                  <a:pt x="403083" y="6118381"/>
                  <a:pt x="312785" y="5830359"/>
                </a:cubicBezTo>
                <a:cubicBezTo>
                  <a:pt x="278149" y="5719759"/>
                  <a:pt x="248879" y="5607635"/>
                  <a:pt x="212198" y="5480401"/>
                </a:cubicBezTo>
                <a:cubicBezTo>
                  <a:pt x="212208" y="5491601"/>
                  <a:pt x="212803" y="5502788"/>
                  <a:pt x="213988" y="5513923"/>
                </a:cubicBezTo>
                <a:cubicBezTo>
                  <a:pt x="264089" y="5723695"/>
                  <a:pt x="307290" y="5935370"/>
                  <a:pt x="365826" y="6142729"/>
                </a:cubicBezTo>
                <a:cubicBezTo>
                  <a:pt x="433152" y="6380817"/>
                  <a:pt x="510068" y="6614016"/>
                  <a:pt x="597975" y="6841549"/>
                </a:cubicBezTo>
                <a:lnTo>
                  <a:pt x="604824" y="6858000"/>
                </a:lnTo>
                <a:lnTo>
                  <a:pt x="552056" y="6858000"/>
                </a:lnTo>
                <a:lnTo>
                  <a:pt x="539576" y="6828295"/>
                </a:lnTo>
                <a:cubicBezTo>
                  <a:pt x="380597" y="6414594"/>
                  <a:pt x="260223" y="5988893"/>
                  <a:pt x="171555" y="5552906"/>
                </a:cubicBezTo>
                <a:cubicBezTo>
                  <a:pt x="91163" y="5157998"/>
                  <a:pt x="43746" y="4758899"/>
                  <a:pt x="12305" y="4357388"/>
                </a:cubicBezTo>
                <a:cubicBezTo>
                  <a:pt x="-14281" y="4013908"/>
                  <a:pt x="4507" y="3672965"/>
                  <a:pt x="46684" y="3331516"/>
                </a:cubicBezTo>
                <a:cubicBezTo>
                  <a:pt x="127203" y="2664286"/>
                  <a:pt x="277819" y="2007265"/>
                  <a:pt x="496065" y="1371196"/>
                </a:cubicBezTo>
                <a:cubicBezTo>
                  <a:pt x="636273" y="966066"/>
                  <a:pt x="800445" y="573253"/>
                  <a:pt x="995723" y="196614"/>
                </a:cubicBezTo>
                <a:close/>
              </a:path>
            </a:pathLst>
          </a:cu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661872530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4111" name="Rectangle 4104">
            <a:extLst>
              <a:ext uri="{FF2B5EF4-FFF2-40B4-BE49-F238E27FC236}">
                <a16:creationId xmlns:a16="http://schemas.microsoft.com/office/drawing/2014/main" id="{F13C74B1-5B17-4795-BED0-7140497B445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28E50ADA-A2F1-FE35-E423-A6E8AEC4F3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" y="325369"/>
            <a:ext cx="4368602" cy="1956841"/>
          </a:xfrm>
        </p:spPr>
        <p:txBody>
          <a:bodyPr anchor="b">
            <a:normAutofit fontScale="90000"/>
          </a:bodyPr>
          <a:lstStyle/>
          <a:p>
            <a:r>
              <a:rPr lang="de-DE" sz="5400" dirty="0" err="1"/>
              <a:t>Recap</a:t>
            </a:r>
            <a:r>
              <a:rPr lang="de-DE" sz="5400" dirty="0"/>
              <a:t>: </a:t>
            </a:r>
            <a:r>
              <a:rPr lang="de-DE" sz="5400" dirty="0" err="1"/>
              <a:t>Our</a:t>
            </a:r>
            <a:r>
              <a:rPr lang="de-DE" sz="5400" dirty="0"/>
              <a:t> </a:t>
            </a:r>
            <a:r>
              <a:rPr lang="de-DE" sz="5400" dirty="0" err="1"/>
              <a:t>aspired</a:t>
            </a:r>
            <a:r>
              <a:rPr lang="de-DE" sz="5400" dirty="0"/>
              <a:t> </a:t>
            </a:r>
            <a:r>
              <a:rPr lang="de-DE" sz="5400" dirty="0" err="1"/>
              <a:t>solution</a:t>
            </a:r>
            <a:endParaRPr lang="de-DE" sz="5400" dirty="0"/>
          </a:p>
        </p:txBody>
      </p:sp>
      <p:sp>
        <p:nvSpPr>
          <p:cNvPr id="4107" name="sketchy line">
            <a:extLst>
              <a:ext uri="{FF2B5EF4-FFF2-40B4-BE49-F238E27FC236}">
                <a16:creationId xmlns:a16="http://schemas.microsoft.com/office/drawing/2014/main" id="{D4974D33-8DC5-464E-8C6D-BE58F0669C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0080" y="2586994"/>
            <a:ext cx="3474720" cy="18288"/>
          </a:xfrm>
          <a:custGeom>
            <a:avLst/>
            <a:gdLst>
              <a:gd name="connsiteX0" fmla="*/ 0 w 3474720"/>
              <a:gd name="connsiteY0" fmla="*/ 0 h 18288"/>
              <a:gd name="connsiteX1" fmla="*/ 694944 w 3474720"/>
              <a:gd name="connsiteY1" fmla="*/ 0 h 18288"/>
              <a:gd name="connsiteX2" fmla="*/ 1355141 w 3474720"/>
              <a:gd name="connsiteY2" fmla="*/ 0 h 18288"/>
              <a:gd name="connsiteX3" fmla="*/ 2015338 w 3474720"/>
              <a:gd name="connsiteY3" fmla="*/ 0 h 18288"/>
              <a:gd name="connsiteX4" fmla="*/ 2779776 w 3474720"/>
              <a:gd name="connsiteY4" fmla="*/ 0 h 18288"/>
              <a:gd name="connsiteX5" fmla="*/ 3474720 w 3474720"/>
              <a:gd name="connsiteY5" fmla="*/ 0 h 18288"/>
              <a:gd name="connsiteX6" fmla="*/ 3474720 w 3474720"/>
              <a:gd name="connsiteY6" fmla="*/ 18288 h 18288"/>
              <a:gd name="connsiteX7" fmla="*/ 2779776 w 3474720"/>
              <a:gd name="connsiteY7" fmla="*/ 18288 h 18288"/>
              <a:gd name="connsiteX8" fmla="*/ 2189074 w 3474720"/>
              <a:gd name="connsiteY8" fmla="*/ 18288 h 18288"/>
              <a:gd name="connsiteX9" fmla="*/ 1528877 w 3474720"/>
              <a:gd name="connsiteY9" fmla="*/ 18288 h 18288"/>
              <a:gd name="connsiteX10" fmla="*/ 868680 w 3474720"/>
              <a:gd name="connsiteY10" fmla="*/ 18288 h 18288"/>
              <a:gd name="connsiteX11" fmla="*/ 0 w 3474720"/>
              <a:gd name="connsiteY11" fmla="*/ 18288 h 18288"/>
              <a:gd name="connsiteX12" fmla="*/ 0 w 3474720"/>
              <a:gd name="connsiteY12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3474720" h="18288" fill="none" extrusionOk="0">
                <a:moveTo>
                  <a:pt x="0" y="0"/>
                </a:moveTo>
                <a:cubicBezTo>
                  <a:pt x="224454" y="-14544"/>
                  <a:pt x="495407" y="26540"/>
                  <a:pt x="694944" y="0"/>
                </a:cubicBezTo>
                <a:cubicBezTo>
                  <a:pt x="894481" y="-26540"/>
                  <a:pt x="1130063" y="24713"/>
                  <a:pt x="1355141" y="0"/>
                </a:cubicBezTo>
                <a:cubicBezTo>
                  <a:pt x="1580219" y="-24713"/>
                  <a:pt x="1820099" y="26695"/>
                  <a:pt x="2015338" y="0"/>
                </a:cubicBezTo>
                <a:cubicBezTo>
                  <a:pt x="2210577" y="-26695"/>
                  <a:pt x="2402045" y="165"/>
                  <a:pt x="2779776" y="0"/>
                </a:cubicBezTo>
                <a:cubicBezTo>
                  <a:pt x="3157507" y="-165"/>
                  <a:pt x="3286859" y="-15571"/>
                  <a:pt x="3474720" y="0"/>
                </a:cubicBezTo>
                <a:cubicBezTo>
                  <a:pt x="3474286" y="7551"/>
                  <a:pt x="3474253" y="9822"/>
                  <a:pt x="3474720" y="18288"/>
                </a:cubicBezTo>
                <a:cubicBezTo>
                  <a:pt x="3233904" y="29845"/>
                  <a:pt x="2945134" y="-5256"/>
                  <a:pt x="2779776" y="18288"/>
                </a:cubicBezTo>
                <a:cubicBezTo>
                  <a:pt x="2614418" y="41832"/>
                  <a:pt x="2339768" y="22709"/>
                  <a:pt x="2189074" y="18288"/>
                </a:cubicBezTo>
                <a:cubicBezTo>
                  <a:pt x="2038380" y="13867"/>
                  <a:pt x="1817434" y="-4947"/>
                  <a:pt x="1528877" y="18288"/>
                </a:cubicBezTo>
                <a:cubicBezTo>
                  <a:pt x="1240320" y="41523"/>
                  <a:pt x="1042447" y="37198"/>
                  <a:pt x="868680" y="18288"/>
                </a:cubicBezTo>
                <a:cubicBezTo>
                  <a:pt x="694913" y="-622"/>
                  <a:pt x="233232" y="44909"/>
                  <a:pt x="0" y="18288"/>
                </a:cubicBezTo>
                <a:cubicBezTo>
                  <a:pt x="60" y="11696"/>
                  <a:pt x="66" y="3758"/>
                  <a:pt x="0" y="0"/>
                </a:cubicBezTo>
                <a:close/>
              </a:path>
              <a:path w="3474720" h="18288" stroke="0" extrusionOk="0">
                <a:moveTo>
                  <a:pt x="0" y="0"/>
                </a:moveTo>
                <a:cubicBezTo>
                  <a:pt x="202328" y="-14716"/>
                  <a:pt x="332722" y="-11499"/>
                  <a:pt x="625450" y="0"/>
                </a:cubicBezTo>
                <a:cubicBezTo>
                  <a:pt x="918178" y="11499"/>
                  <a:pt x="1096688" y="5123"/>
                  <a:pt x="1389888" y="0"/>
                </a:cubicBezTo>
                <a:cubicBezTo>
                  <a:pt x="1683088" y="-5123"/>
                  <a:pt x="1835981" y="-14038"/>
                  <a:pt x="1980590" y="0"/>
                </a:cubicBezTo>
                <a:cubicBezTo>
                  <a:pt x="2125199" y="14038"/>
                  <a:pt x="2396099" y="-7203"/>
                  <a:pt x="2571293" y="0"/>
                </a:cubicBezTo>
                <a:cubicBezTo>
                  <a:pt x="2746487" y="7203"/>
                  <a:pt x="3041609" y="-12036"/>
                  <a:pt x="3474720" y="0"/>
                </a:cubicBezTo>
                <a:cubicBezTo>
                  <a:pt x="3474638" y="4406"/>
                  <a:pt x="3474631" y="9982"/>
                  <a:pt x="3474720" y="18288"/>
                </a:cubicBezTo>
                <a:cubicBezTo>
                  <a:pt x="3324873" y="21876"/>
                  <a:pt x="3136771" y="12587"/>
                  <a:pt x="2814523" y="18288"/>
                </a:cubicBezTo>
                <a:cubicBezTo>
                  <a:pt x="2492275" y="23989"/>
                  <a:pt x="2294402" y="47111"/>
                  <a:pt x="2154326" y="18288"/>
                </a:cubicBezTo>
                <a:cubicBezTo>
                  <a:pt x="2014250" y="-10535"/>
                  <a:pt x="1820317" y="33903"/>
                  <a:pt x="1494130" y="18288"/>
                </a:cubicBezTo>
                <a:cubicBezTo>
                  <a:pt x="1167943" y="2673"/>
                  <a:pt x="948432" y="14868"/>
                  <a:pt x="729691" y="18288"/>
                </a:cubicBezTo>
                <a:cubicBezTo>
                  <a:pt x="510950" y="21708"/>
                  <a:pt x="264032" y="24354"/>
                  <a:pt x="0" y="18288"/>
                </a:cubicBezTo>
                <a:cubicBezTo>
                  <a:pt x="189" y="14288"/>
                  <a:pt x="-703" y="3747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4450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2863741219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12" name="Content Placeholder 4101">
            <a:extLst>
              <a:ext uri="{FF2B5EF4-FFF2-40B4-BE49-F238E27FC236}">
                <a16:creationId xmlns:a16="http://schemas.microsoft.com/office/drawing/2014/main" id="{F434F063-CDD7-DFA1-2591-2165359E494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0080" y="2872899"/>
            <a:ext cx="4243589" cy="3320668"/>
          </a:xfrm>
        </p:spPr>
        <p:txBody>
          <a:bodyPr>
            <a:normAutofit/>
          </a:bodyPr>
          <a:lstStyle/>
          <a:p>
            <a:r>
              <a:rPr lang="en-US" sz="2200" dirty="0"/>
              <a:t>Allow protesters to assess what kind of repression tools might be used</a:t>
            </a:r>
          </a:p>
          <a:p>
            <a:r>
              <a:rPr lang="en-US" sz="2200" dirty="0"/>
              <a:t>Allow </a:t>
            </a:r>
            <a:r>
              <a:rPr lang="en-US" sz="2200" dirty="0" err="1"/>
              <a:t>organisers</a:t>
            </a:r>
            <a:r>
              <a:rPr lang="en-US" sz="2200" dirty="0"/>
              <a:t> to understand to they can deploy better tactics to avoid violent escalations</a:t>
            </a:r>
          </a:p>
          <a:p>
            <a:r>
              <a:rPr lang="en-US" sz="2200" dirty="0" err="1"/>
              <a:t>Organise</a:t>
            </a:r>
            <a:r>
              <a:rPr lang="en-US" sz="2200" dirty="0"/>
              <a:t> smarter by suggesting safe places to hold the event</a:t>
            </a:r>
          </a:p>
        </p:txBody>
      </p:sp>
      <p:pic>
        <p:nvPicPr>
          <p:cNvPr id="4098" name="Picture 2" descr="Ein Bild, das Text, Person enthält.&#10;&#10;Automatisch generierte Beschreibung">
            <a:extLst>
              <a:ext uri="{FF2B5EF4-FFF2-40B4-BE49-F238E27FC236}">
                <a16:creationId xmlns:a16="http://schemas.microsoft.com/office/drawing/2014/main" id="{9B82AB07-00D3-2B34-5401-0D1A5E8D2FDC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8059" r="14739" b="2"/>
          <a:stretch/>
        </p:blipFill>
        <p:spPr bwMode="auto">
          <a:xfrm>
            <a:off x="5311702" y="10"/>
            <a:ext cx="6878775" cy="6857990"/>
          </a:xfrm>
          <a:custGeom>
            <a:avLst/>
            <a:gdLst/>
            <a:ahLst/>
            <a:cxnLst/>
            <a:rect l="l" t="t" r="r" b="b"/>
            <a:pathLst>
              <a:path w="6878775" h="6858000">
                <a:moveTo>
                  <a:pt x="1102973" y="0"/>
                </a:moveTo>
                <a:lnTo>
                  <a:pt x="1160688" y="0"/>
                </a:lnTo>
                <a:lnTo>
                  <a:pt x="983189" y="331786"/>
                </a:lnTo>
                <a:cubicBezTo>
                  <a:pt x="914866" y="469145"/>
                  <a:pt x="850355" y="608712"/>
                  <a:pt x="789261" y="750263"/>
                </a:cubicBezTo>
                <a:cubicBezTo>
                  <a:pt x="774307" y="784928"/>
                  <a:pt x="759992" y="819849"/>
                  <a:pt x="745295" y="854514"/>
                </a:cubicBezTo>
                <a:cubicBezTo>
                  <a:pt x="756682" y="845393"/>
                  <a:pt x="765489" y="833492"/>
                  <a:pt x="770857" y="819975"/>
                </a:cubicBezTo>
                <a:cubicBezTo>
                  <a:pt x="879943" y="589569"/>
                  <a:pt x="999605" y="365513"/>
                  <a:pt x="1131329" y="148742"/>
                </a:cubicBezTo>
                <a:lnTo>
                  <a:pt x="1227589" y="0"/>
                </a:lnTo>
                <a:lnTo>
                  <a:pt x="6878775" y="0"/>
                </a:lnTo>
                <a:lnTo>
                  <a:pt x="6878775" y="6858000"/>
                </a:lnTo>
                <a:lnTo>
                  <a:pt x="713521" y="6858000"/>
                </a:lnTo>
                <a:lnTo>
                  <a:pt x="625642" y="6670527"/>
                </a:lnTo>
                <a:cubicBezTo>
                  <a:pt x="507232" y="6398531"/>
                  <a:pt x="403083" y="6118381"/>
                  <a:pt x="312785" y="5830359"/>
                </a:cubicBezTo>
                <a:cubicBezTo>
                  <a:pt x="278149" y="5719759"/>
                  <a:pt x="248879" y="5607635"/>
                  <a:pt x="212198" y="5480401"/>
                </a:cubicBezTo>
                <a:cubicBezTo>
                  <a:pt x="212208" y="5491601"/>
                  <a:pt x="212803" y="5502788"/>
                  <a:pt x="213988" y="5513923"/>
                </a:cubicBezTo>
                <a:cubicBezTo>
                  <a:pt x="264089" y="5723695"/>
                  <a:pt x="307290" y="5935370"/>
                  <a:pt x="365826" y="6142729"/>
                </a:cubicBezTo>
                <a:cubicBezTo>
                  <a:pt x="433152" y="6380817"/>
                  <a:pt x="510068" y="6614016"/>
                  <a:pt x="597975" y="6841549"/>
                </a:cubicBezTo>
                <a:lnTo>
                  <a:pt x="604824" y="6858000"/>
                </a:lnTo>
                <a:lnTo>
                  <a:pt x="552056" y="6858000"/>
                </a:lnTo>
                <a:lnTo>
                  <a:pt x="539576" y="6828295"/>
                </a:lnTo>
                <a:cubicBezTo>
                  <a:pt x="380597" y="6414594"/>
                  <a:pt x="260223" y="5988893"/>
                  <a:pt x="171555" y="5552906"/>
                </a:cubicBezTo>
                <a:cubicBezTo>
                  <a:pt x="91163" y="5157998"/>
                  <a:pt x="43746" y="4758899"/>
                  <a:pt x="12305" y="4357388"/>
                </a:cubicBezTo>
                <a:cubicBezTo>
                  <a:pt x="-14281" y="4013908"/>
                  <a:pt x="4507" y="3672965"/>
                  <a:pt x="46684" y="3331516"/>
                </a:cubicBezTo>
                <a:cubicBezTo>
                  <a:pt x="127203" y="2664286"/>
                  <a:pt x="277819" y="2007265"/>
                  <a:pt x="496065" y="1371196"/>
                </a:cubicBezTo>
                <a:cubicBezTo>
                  <a:pt x="636273" y="966066"/>
                  <a:pt x="800445" y="573253"/>
                  <a:pt x="995723" y="196614"/>
                </a:cubicBezTo>
                <a:close/>
              </a:path>
            </a:pathLst>
          </a:cu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08589327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6132A96-B467-ABA5-CD4F-9E7EB294AF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Methodology</a:t>
            </a:r>
            <a:r>
              <a:rPr lang="de-DE" dirty="0"/>
              <a:t> (1-2 min)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F42E52C6-AFF9-AF1C-CE15-61EC66A5120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de-DE" dirty="0" err="1"/>
              <a:t>What</a:t>
            </a:r>
            <a:r>
              <a:rPr lang="de-DE" dirty="0"/>
              <a:t> </a:t>
            </a:r>
            <a:r>
              <a:rPr lang="de-DE" dirty="0" err="1"/>
              <a:t>did</a:t>
            </a:r>
            <a:r>
              <a:rPr lang="de-DE" dirty="0"/>
              <a:t> </a:t>
            </a:r>
            <a:r>
              <a:rPr lang="de-DE" dirty="0" err="1"/>
              <a:t>we</a:t>
            </a:r>
            <a:r>
              <a:rPr lang="de-DE" dirty="0"/>
              <a:t> </a:t>
            </a:r>
            <a:r>
              <a:rPr lang="de-DE" dirty="0" err="1"/>
              <a:t>start</a:t>
            </a:r>
            <a:r>
              <a:rPr lang="de-DE" dirty="0"/>
              <a:t> </a:t>
            </a:r>
            <a:r>
              <a:rPr lang="de-DE" dirty="0" err="1"/>
              <a:t>with</a:t>
            </a:r>
            <a:endParaRPr lang="de-DE" dirty="0"/>
          </a:p>
          <a:p>
            <a:pPr lvl="1"/>
            <a:r>
              <a:rPr lang="de-DE" dirty="0" err="1"/>
              <a:t>data</a:t>
            </a:r>
            <a:r>
              <a:rPr lang="de-DE" dirty="0"/>
              <a:t> </a:t>
            </a:r>
            <a:r>
              <a:rPr lang="de-DE" dirty="0" err="1"/>
              <a:t>sets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3 different countries and a </a:t>
            </a:r>
            <a:r>
              <a:rPr lang="de-DE" dirty="0" err="1"/>
              <a:t>rough</a:t>
            </a:r>
            <a:r>
              <a:rPr lang="de-DE" dirty="0"/>
              <a:t> </a:t>
            </a:r>
            <a:r>
              <a:rPr lang="de-DE" dirty="0" err="1"/>
              <a:t>idea</a:t>
            </a:r>
            <a:r>
              <a:rPr lang="de-DE" dirty="0"/>
              <a:t> </a:t>
            </a:r>
            <a:r>
              <a:rPr lang="de-DE" dirty="0" err="1"/>
              <a:t>what</a:t>
            </a:r>
            <a:r>
              <a:rPr lang="de-DE" dirty="0"/>
              <a:t> </a:t>
            </a:r>
            <a:r>
              <a:rPr lang="de-DE" dirty="0" err="1"/>
              <a:t>model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use</a:t>
            </a:r>
            <a:endParaRPr lang="de-DE" dirty="0"/>
          </a:p>
          <a:p>
            <a:pPr lvl="2"/>
            <a:r>
              <a:rPr lang="de-DE" dirty="0"/>
              <a:t>Screenshot/ </a:t>
            </a:r>
            <a:r>
              <a:rPr lang="de-DE" dirty="0" err="1"/>
              <a:t>brie</a:t>
            </a:r>
            <a:r>
              <a:rPr lang="de-DE" dirty="0"/>
              <a:t> </a:t>
            </a:r>
            <a:r>
              <a:rPr lang="de-DE" dirty="0" err="1"/>
              <a:t>peak</a:t>
            </a:r>
            <a:r>
              <a:rPr lang="de-DE" dirty="0"/>
              <a:t> </a:t>
            </a:r>
            <a:r>
              <a:rPr lang="de-DE" dirty="0" err="1"/>
              <a:t>into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raw</a:t>
            </a:r>
            <a:r>
              <a:rPr lang="de-DE" dirty="0"/>
              <a:t> </a:t>
            </a:r>
            <a:r>
              <a:rPr lang="de-DE" dirty="0" err="1"/>
              <a:t>data</a:t>
            </a:r>
            <a:r>
              <a:rPr lang="de-DE" dirty="0"/>
              <a:t>?</a:t>
            </a:r>
          </a:p>
          <a:p>
            <a:pPr lvl="1"/>
            <a:r>
              <a:rPr lang="de-DE" dirty="0"/>
              <a:t>The </a:t>
            </a:r>
            <a:r>
              <a:rPr lang="de-DE" dirty="0" err="1"/>
              <a:t>idea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what</a:t>
            </a:r>
            <a:r>
              <a:rPr lang="de-DE" dirty="0"/>
              <a:t> </a:t>
            </a:r>
            <a:r>
              <a:rPr lang="de-DE" dirty="0" err="1"/>
              <a:t>target</a:t>
            </a:r>
            <a:r>
              <a:rPr lang="de-DE" dirty="0"/>
              <a:t> variable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choose</a:t>
            </a:r>
            <a:endParaRPr lang="de-DE" dirty="0"/>
          </a:p>
          <a:p>
            <a:r>
              <a:rPr lang="de-DE" dirty="0" err="1"/>
              <a:t>How</a:t>
            </a:r>
            <a:r>
              <a:rPr lang="de-DE" dirty="0"/>
              <a:t> </a:t>
            </a:r>
            <a:r>
              <a:rPr lang="de-DE" dirty="0" err="1"/>
              <a:t>did</a:t>
            </a:r>
            <a:r>
              <a:rPr lang="de-DE" dirty="0"/>
              <a:t> </a:t>
            </a:r>
            <a:r>
              <a:rPr lang="de-DE" dirty="0" err="1"/>
              <a:t>we</a:t>
            </a:r>
            <a:r>
              <a:rPr lang="de-DE" dirty="0"/>
              <a:t> </a:t>
            </a:r>
            <a:r>
              <a:rPr lang="de-DE" dirty="0" err="1"/>
              <a:t>proceed</a:t>
            </a:r>
            <a:r>
              <a:rPr lang="de-DE" dirty="0"/>
              <a:t>:</a:t>
            </a:r>
          </a:p>
          <a:p>
            <a:pPr lvl="1"/>
            <a:r>
              <a:rPr lang="de-DE" dirty="0"/>
              <a:t>PM and </a:t>
            </a:r>
            <a:r>
              <a:rPr lang="de-DE" dirty="0" err="1"/>
              <a:t>organisation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work</a:t>
            </a:r>
            <a:r>
              <a:rPr lang="de-DE" dirty="0"/>
              <a:t> (?)</a:t>
            </a:r>
          </a:p>
          <a:p>
            <a:pPr lvl="1"/>
            <a:r>
              <a:rPr lang="de-DE" dirty="0"/>
              <a:t>Data </a:t>
            </a:r>
            <a:r>
              <a:rPr lang="de-DE" dirty="0" err="1"/>
              <a:t>Preproc</a:t>
            </a:r>
            <a:r>
              <a:rPr lang="de-DE" dirty="0"/>
              <a:t> (</a:t>
            </a:r>
            <a:r>
              <a:rPr lang="de-DE" dirty="0" err="1"/>
              <a:t>taking</a:t>
            </a:r>
            <a:r>
              <a:rPr lang="de-DE" dirty="0"/>
              <a:t> a </a:t>
            </a:r>
            <a:r>
              <a:rPr lang="de-DE" dirty="0" err="1"/>
              <a:t>loooot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time!)</a:t>
            </a:r>
          </a:p>
          <a:p>
            <a:pPr lvl="2"/>
            <a:r>
              <a:rPr lang="de-DE" dirty="0" err="1"/>
              <a:t>data</a:t>
            </a:r>
            <a:r>
              <a:rPr lang="de-DE" dirty="0"/>
              <a:t> </a:t>
            </a:r>
            <a:r>
              <a:rPr lang="de-DE" dirty="0" err="1"/>
              <a:t>exploration</a:t>
            </a:r>
            <a:r>
              <a:rPr lang="de-DE" dirty="0"/>
              <a:t> (</a:t>
            </a:r>
            <a:r>
              <a:rPr lang="de-DE" dirty="0" err="1"/>
              <a:t>viz</a:t>
            </a:r>
            <a:r>
              <a:rPr lang="de-DE" dirty="0"/>
              <a:t> + </a:t>
            </a:r>
            <a:r>
              <a:rPr lang="de-DE" dirty="0" err="1"/>
              <a:t>trying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find </a:t>
            </a:r>
            <a:r>
              <a:rPr lang="de-DE" dirty="0" err="1"/>
              <a:t>first</a:t>
            </a:r>
            <a:r>
              <a:rPr lang="de-DE" dirty="0"/>
              <a:t> </a:t>
            </a:r>
            <a:r>
              <a:rPr lang="de-DE" dirty="0" err="1"/>
              <a:t>correlations</a:t>
            </a:r>
            <a:r>
              <a:rPr lang="de-DE" dirty="0"/>
              <a:t>) </a:t>
            </a:r>
          </a:p>
          <a:p>
            <a:pPr lvl="2"/>
            <a:r>
              <a:rPr lang="de-DE" dirty="0" err="1"/>
              <a:t>Eliminating</a:t>
            </a:r>
            <a:r>
              <a:rPr lang="de-DE" dirty="0"/>
              <a:t> variables</a:t>
            </a:r>
          </a:p>
          <a:p>
            <a:pPr lvl="2"/>
            <a:r>
              <a:rPr lang="de-DE" dirty="0" err="1"/>
              <a:t>Standardising</a:t>
            </a:r>
            <a:r>
              <a:rPr lang="de-DE" dirty="0"/>
              <a:t> and </a:t>
            </a:r>
            <a:r>
              <a:rPr lang="de-DE" dirty="0" err="1"/>
              <a:t>merging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3 </a:t>
            </a:r>
            <a:r>
              <a:rPr lang="de-DE" dirty="0" err="1"/>
              <a:t>data</a:t>
            </a:r>
            <a:r>
              <a:rPr lang="de-DE" dirty="0"/>
              <a:t> </a:t>
            </a:r>
            <a:r>
              <a:rPr lang="de-DE" dirty="0" err="1"/>
              <a:t>sets</a:t>
            </a:r>
            <a:endParaRPr lang="de-DE" dirty="0"/>
          </a:p>
          <a:p>
            <a:pPr lvl="1"/>
            <a:r>
              <a:rPr lang="de-DE" dirty="0"/>
              <a:t>Modelling (</a:t>
            </a:r>
            <a:r>
              <a:rPr lang="de-DE" dirty="0" err="1"/>
              <a:t>here</a:t>
            </a:r>
            <a:r>
              <a:rPr lang="de-DE" dirty="0"/>
              <a:t> </a:t>
            </a:r>
            <a:r>
              <a:rPr lang="de-DE" dirty="0" err="1"/>
              <a:t>we</a:t>
            </a:r>
            <a:r>
              <a:rPr lang="de-DE" dirty="0"/>
              <a:t> </a:t>
            </a:r>
            <a:r>
              <a:rPr lang="de-DE" dirty="0" err="1"/>
              <a:t>can</a:t>
            </a:r>
            <a:r>
              <a:rPr lang="de-DE" dirty="0"/>
              <a:t> </a:t>
            </a:r>
            <a:r>
              <a:rPr lang="de-DE" dirty="0" err="1"/>
              <a:t>discuss</a:t>
            </a:r>
            <a:r>
              <a:rPr lang="de-DE" dirty="0"/>
              <a:t> </a:t>
            </a:r>
            <a:r>
              <a:rPr lang="de-DE" dirty="0" err="1"/>
              <a:t>if</a:t>
            </a:r>
            <a:r>
              <a:rPr lang="de-DE" dirty="0"/>
              <a:t> </a:t>
            </a:r>
            <a:r>
              <a:rPr lang="de-DE" dirty="0" err="1"/>
              <a:t>we</a:t>
            </a:r>
            <a:r>
              <a:rPr lang="de-DE" dirty="0"/>
              <a:t> </a:t>
            </a:r>
            <a:r>
              <a:rPr lang="de-DE" dirty="0" err="1"/>
              <a:t>give</a:t>
            </a:r>
            <a:r>
              <a:rPr lang="de-DE" dirty="0"/>
              <a:t> a </a:t>
            </a:r>
            <a:r>
              <a:rPr lang="de-DE" dirty="0" err="1"/>
              <a:t>brief</a:t>
            </a:r>
            <a:r>
              <a:rPr lang="de-DE" dirty="0"/>
              <a:t> </a:t>
            </a:r>
            <a:r>
              <a:rPr lang="de-DE" dirty="0" err="1"/>
              <a:t>peek</a:t>
            </a:r>
            <a:r>
              <a:rPr lang="de-DE" dirty="0"/>
              <a:t> </a:t>
            </a:r>
            <a:r>
              <a:rPr lang="de-DE" dirty="0" err="1"/>
              <a:t>into</a:t>
            </a:r>
            <a:r>
              <a:rPr lang="de-DE" dirty="0"/>
              <a:t> </a:t>
            </a:r>
            <a:r>
              <a:rPr lang="de-DE" dirty="0" err="1"/>
              <a:t>some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our</a:t>
            </a:r>
            <a:r>
              <a:rPr lang="de-DE" dirty="0"/>
              <a:t> </a:t>
            </a:r>
            <a:r>
              <a:rPr lang="de-DE" dirty="0" err="1"/>
              <a:t>models</a:t>
            </a:r>
            <a:r>
              <a:rPr lang="de-DE" dirty="0"/>
              <a:t> </a:t>
            </a:r>
            <a:r>
              <a:rPr lang="de-DE" dirty="0" err="1"/>
              <a:t>or</a:t>
            </a:r>
            <a:r>
              <a:rPr lang="de-DE" dirty="0"/>
              <a:t> </a:t>
            </a:r>
            <a:r>
              <a:rPr lang="de-DE" dirty="0" err="1"/>
              <a:t>show</a:t>
            </a:r>
            <a:r>
              <a:rPr lang="de-DE" dirty="0"/>
              <a:t> score):</a:t>
            </a:r>
          </a:p>
          <a:p>
            <a:pPr lvl="2"/>
            <a:r>
              <a:rPr lang="de-DE" dirty="0" err="1"/>
              <a:t>Logistics</a:t>
            </a:r>
            <a:endParaRPr lang="de-DE" dirty="0"/>
          </a:p>
          <a:p>
            <a:pPr lvl="2"/>
            <a:r>
              <a:rPr lang="de-DE" dirty="0"/>
              <a:t>Random Forest</a:t>
            </a:r>
          </a:p>
          <a:p>
            <a:pPr lvl="2"/>
            <a:r>
              <a:rPr lang="de-DE" dirty="0"/>
              <a:t>DTC Model</a:t>
            </a:r>
          </a:p>
          <a:p>
            <a:pPr lvl="2"/>
            <a:r>
              <a:rPr lang="de-DE" dirty="0" err="1"/>
              <a:t>Choosing</a:t>
            </a:r>
            <a:r>
              <a:rPr lang="de-DE" dirty="0"/>
              <a:t> final </a:t>
            </a:r>
            <a:r>
              <a:rPr lang="de-DE" dirty="0" err="1"/>
              <a:t>features</a:t>
            </a:r>
            <a:endParaRPr lang="de-DE" dirty="0"/>
          </a:p>
          <a:p>
            <a:pPr lvl="1"/>
            <a:r>
              <a:rPr lang="de-DE" dirty="0" err="1"/>
              <a:t>Predict</a:t>
            </a:r>
            <a:r>
              <a:rPr lang="de-DE" dirty="0"/>
              <a:t> in </a:t>
            </a:r>
            <a:r>
              <a:rPr lang="de-DE" dirty="0" err="1"/>
              <a:t>Production</a:t>
            </a:r>
            <a:endParaRPr lang="de-DE" dirty="0"/>
          </a:p>
          <a:p>
            <a:pPr lvl="3"/>
            <a:endParaRPr lang="de-DE" dirty="0"/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89283577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283923A-4E0C-1636-6E75-BDEB896155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Insights</a:t>
            </a:r>
            <a:r>
              <a:rPr lang="de-DE" dirty="0"/>
              <a:t>/ </a:t>
            </a:r>
            <a:r>
              <a:rPr lang="de-DE" dirty="0" err="1"/>
              <a:t>Visualisation</a:t>
            </a:r>
            <a:r>
              <a:rPr lang="de-DE" dirty="0"/>
              <a:t> (30 sec)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82AD37D3-DACA-7BBA-B44C-62553E5E6DF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48427302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C6ECCC0-70FF-260F-1579-C96632747A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Predict</a:t>
            </a:r>
            <a:r>
              <a:rPr lang="de-DE" dirty="0"/>
              <a:t> in </a:t>
            </a:r>
            <a:r>
              <a:rPr lang="de-DE" dirty="0" err="1"/>
              <a:t>Production</a:t>
            </a:r>
            <a:r>
              <a:rPr lang="de-DE" dirty="0"/>
              <a:t>/ Showcase (1-2 min)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C07D6D0A-183E-B25E-5E8C-F4E54913D14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Here </a:t>
            </a:r>
            <a:r>
              <a:rPr lang="de-DE" dirty="0" err="1"/>
              <a:t>we</a:t>
            </a:r>
            <a:r>
              <a:rPr lang="de-DE" dirty="0"/>
              <a:t> will </a:t>
            </a:r>
            <a:r>
              <a:rPr lang="de-DE" dirty="0" err="1"/>
              <a:t>show</a:t>
            </a:r>
            <a:r>
              <a:rPr lang="de-DE" dirty="0"/>
              <a:t> </a:t>
            </a:r>
            <a:r>
              <a:rPr lang="de-DE" dirty="0" err="1"/>
              <a:t>our</a:t>
            </a:r>
            <a:r>
              <a:rPr lang="de-DE" dirty="0"/>
              <a:t> </a:t>
            </a:r>
            <a:r>
              <a:rPr lang="de-DE" dirty="0" err="1"/>
              <a:t>model</a:t>
            </a:r>
            <a:r>
              <a:rPr lang="de-DE" dirty="0"/>
              <a:t>. Link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our</a:t>
            </a:r>
            <a:r>
              <a:rPr lang="de-DE" dirty="0"/>
              <a:t> web </a:t>
            </a:r>
            <a:r>
              <a:rPr lang="de-DE" dirty="0" err="1"/>
              <a:t>app</a:t>
            </a:r>
            <a:endParaRPr lang="de-DE" dirty="0"/>
          </a:p>
          <a:p>
            <a:r>
              <a:rPr lang="de-DE" dirty="0" err="1"/>
              <a:t>Predict</a:t>
            </a:r>
            <a:r>
              <a:rPr lang="de-DE" dirty="0"/>
              <a:t> </a:t>
            </a:r>
            <a:r>
              <a:rPr lang="de-DE" dirty="0" err="1"/>
              <a:t>from</a:t>
            </a:r>
            <a:r>
              <a:rPr lang="de-DE" dirty="0"/>
              <a:t> </a:t>
            </a:r>
            <a:r>
              <a:rPr lang="de-DE" dirty="0" err="1"/>
              <a:t>phone</a:t>
            </a:r>
            <a:r>
              <a:rPr lang="de-DE" dirty="0"/>
              <a:t> (</a:t>
            </a:r>
            <a:r>
              <a:rPr lang="de-DE" dirty="0" err="1"/>
              <a:t>comp</a:t>
            </a:r>
            <a:r>
              <a:rPr lang="de-DE" dirty="0"/>
              <a:t> Chatbot </a:t>
            </a:r>
            <a:r>
              <a:rPr lang="de-DE" dirty="0" err="1"/>
              <a:t>team</a:t>
            </a:r>
            <a:r>
              <a:rPr lang="de-DE" dirty="0"/>
              <a:t>)?</a:t>
            </a:r>
          </a:p>
          <a:p>
            <a:r>
              <a:rPr lang="de-DE" dirty="0" err="1"/>
              <a:t>Let</a:t>
            </a:r>
            <a:r>
              <a:rPr lang="de-DE" dirty="0"/>
              <a:t> </a:t>
            </a:r>
            <a:r>
              <a:rPr lang="de-DE" dirty="0" err="1"/>
              <a:t>people</a:t>
            </a:r>
            <a:r>
              <a:rPr lang="de-DE" dirty="0"/>
              <a:t> </a:t>
            </a:r>
            <a:r>
              <a:rPr lang="de-DE" dirty="0" err="1"/>
              <a:t>from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crowd</a:t>
            </a:r>
            <a:r>
              <a:rPr lang="de-DE" dirty="0"/>
              <a:t> </a:t>
            </a:r>
            <a:r>
              <a:rPr lang="de-DE" dirty="0" err="1"/>
              <a:t>draw</a:t>
            </a:r>
            <a:r>
              <a:rPr lang="de-DE" dirty="0"/>
              <a:t> </a:t>
            </a:r>
            <a:r>
              <a:rPr lang="de-DE" dirty="0" err="1"/>
              <a:t>input</a:t>
            </a:r>
            <a:r>
              <a:rPr lang="de-DE" dirty="0"/>
              <a:t>/ feature </a:t>
            </a:r>
            <a:r>
              <a:rPr lang="de-DE" dirty="0" err="1"/>
              <a:t>factors</a:t>
            </a:r>
            <a:r>
              <a:rPr lang="de-DE" dirty="0"/>
              <a:t> and do a „</a:t>
            </a:r>
            <a:r>
              <a:rPr lang="de-DE" dirty="0" err="1"/>
              <a:t>random</a:t>
            </a:r>
            <a:r>
              <a:rPr lang="de-DE" dirty="0"/>
              <a:t>“ </a:t>
            </a:r>
            <a:r>
              <a:rPr lang="de-DE" dirty="0" err="1"/>
              <a:t>prediction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94436653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FF6DBA3-B0B1-565D-885A-BBC41E6C3F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Lessons</a:t>
            </a:r>
            <a:r>
              <a:rPr lang="de-DE" dirty="0"/>
              <a:t> </a:t>
            </a:r>
            <a:r>
              <a:rPr lang="de-DE" dirty="0" err="1"/>
              <a:t>Learned</a:t>
            </a:r>
            <a:r>
              <a:rPr lang="de-DE" dirty="0"/>
              <a:t> and Outlook (30 sec) /</a:t>
            </a:r>
            <a:br>
              <a:rPr lang="de-DE" dirty="0"/>
            </a:br>
            <a:r>
              <a:rPr lang="de-DE" b="1" dirty="0"/>
              <a:t>Drop </a:t>
            </a:r>
            <a:r>
              <a:rPr lang="de-DE" b="1" dirty="0" err="1"/>
              <a:t>this</a:t>
            </a:r>
            <a:r>
              <a:rPr lang="de-DE" b="1" dirty="0"/>
              <a:t> </a:t>
            </a:r>
            <a:r>
              <a:rPr lang="de-DE" b="1" dirty="0" err="1"/>
              <a:t>slide</a:t>
            </a:r>
            <a:r>
              <a:rPr lang="de-DE" b="1" dirty="0"/>
              <a:t>?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821B0A2B-7250-B47A-2372-BC679FB9721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Data </a:t>
            </a:r>
            <a:r>
              <a:rPr lang="de-DE" dirty="0" err="1"/>
              <a:t>Preproc</a:t>
            </a:r>
            <a:r>
              <a:rPr lang="de-DE" dirty="0"/>
              <a:t> </a:t>
            </a:r>
            <a:r>
              <a:rPr lang="de-DE" dirty="0" err="1"/>
              <a:t>takes</a:t>
            </a:r>
            <a:r>
              <a:rPr lang="de-DE" dirty="0"/>
              <a:t> a </a:t>
            </a:r>
            <a:r>
              <a:rPr lang="de-DE" dirty="0" err="1"/>
              <a:t>long</a:t>
            </a:r>
            <a:r>
              <a:rPr lang="de-DE" dirty="0"/>
              <a:t> time</a:t>
            </a:r>
          </a:p>
          <a:p>
            <a:r>
              <a:rPr lang="de-DE" dirty="0" err="1"/>
              <a:t>Complex</a:t>
            </a:r>
            <a:r>
              <a:rPr lang="de-DE" dirty="0"/>
              <a:t>, emergent, interdependent </a:t>
            </a:r>
            <a:r>
              <a:rPr lang="de-DE" dirty="0" err="1"/>
              <a:t>system</a:t>
            </a:r>
            <a:r>
              <a:rPr lang="de-DE" dirty="0"/>
              <a:t> </a:t>
            </a:r>
            <a:r>
              <a:rPr lang="de-DE" dirty="0" err="1"/>
              <a:t>can</a:t>
            </a:r>
            <a:r>
              <a:rPr lang="de-DE" dirty="0"/>
              <a:t> </a:t>
            </a:r>
            <a:r>
              <a:rPr lang="de-DE" dirty="0" err="1"/>
              <a:t>be</a:t>
            </a:r>
            <a:r>
              <a:rPr lang="de-DE" dirty="0"/>
              <a:t> </a:t>
            </a:r>
            <a:r>
              <a:rPr lang="de-DE" dirty="0" err="1"/>
              <a:t>tricky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model</a:t>
            </a:r>
            <a:endParaRPr lang="de-DE" dirty="0"/>
          </a:p>
          <a:p>
            <a:r>
              <a:rPr lang="de-DE" dirty="0"/>
              <a:t>Data Exploration and Analysis </a:t>
            </a:r>
            <a:r>
              <a:rPr lang="de-DE" dirty="0" err="1"/>
              <a:t>can</a:t>
            </a:r>
            <a:r>
              <a:rPr lang="de-DE" dirty="0"/>
              <a:t> </a:t>
            </a:r>
            <a:r>
              <a:rPr lang="de-DE" dirty="0" err="1"/>
              <a:t>help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reduce</a:t>
            </a:r>
            <a:r>
              <a:rPr lang="de-DE" dirty="0"/>
              <a:t> </a:t>
            </a:r>
            <a:r>
              <a:rPr lang="de-DE" dirty="0" err="1"/>
              <a:t>complexity</a:t>
            </a:r>
            <a:endParaRPr lang="de-DE" dirty="0"/>
          </a:p>
          <a:p>
            <a:r>
              <a:rPr lang="de-DE" dirty="0" err="1"/>
              <a:t>Context</a:t>
            </a:r>
            <a:r>
              <a:rPr lang="de-DE" dirty="0"/>
              <a:t> </a:t>
            </a:r>
            <a:r>
              <a:rPr lang="de-DE" dirty="0" err="1"/>
              <a:t>is</a:t>
            </a:r>
            <a:r>
              <a:rPr lang="de-DE" dirty="0"/>
              <a:t> </a:t>
            </a:r>
            <a:r>
              <a:rPr lang="de-DE" dirty="0" err="1"/>
              <a:t>everything</a:t>
            </a:r>
            <a:r>
              <a:rPr lang="de-DE" dirty="0"/>
              <a:t> (</a:t>
            </a:r>
            <a:r>
              <a:rPr lang="de-DE" dirty="0" err="1"/>
              <a:t>thanks</a:t>
            </a:r>
            <a:r>
              <a:rPr lang="de-DE" dirty="0"/>
              <a:t>, Noah!) – blind </a:t>
            </a:r>
            <a:r>
              <a:rPr lang="de-DE" dirty="0" err="1"/>
              <a:t>application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inductivism</a:t>
            </a:r>
            <a:r>
              <a:rPr lang="de-DE" dirty="0"/>
              <a:t> </a:t>
            </a:r>
            <a:r>
              <a:rPr lang="de-DE" dirty="0" err="1"/>
              <a:t>can</a:t>
            </a:r>
            <a:r>
              <a:rPr lang="de-DE" dirty="0"/>
              <a:t> </a:t>
            </a:r>
            <a:r>
              <a:rPr lang="de-DE" dirty="0" err="1"/>
              <a:t>lead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wrong</a:t>
            </a:r>
            <a:r>
              <a:rPr lang="de-DE" dirty="0"/>
              <a:t> </a:t>
            </a:r>
            <a:r>
              <a:rPr lang="de-DE" dirty="0" err="1"/>
              <a:t>conclustions</a:t>
            </a:r>
            <a:endParaRPr lang="de-DE" dirty="0"/>
          </a:p>
          <a:p>
            <a:endParaRPr lang="de-DE" dirty="0"/>
          </a:p>
          <a:p>
            <a:pPr marL="0" indent="0">
              <a:buNone/>
            </a:pP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95246946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454</Words>
  <Application>Microsoft Office PowerPoint</Application>
  <PresentationFormat>Breitbild</PresentationFormat>
  <Paragraphs>53</Paragraphs>
  <Slides>8</Slides>
  <Notes>1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4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8</vt:i4>
      </vt:variant>
    </vt:vector>
  </HeadingPairs>
  <TitlesOfParts>
    <vt:vector size="13" baseType="lpstr">
      <vt:lpstr>Arial</vt:lpstr>
      <vt:lpstr>Calibri</vt:lpstr>
      <vt:lpstr>Calibri Light</vt:lpstr>
      <vt:lpstr>Wingdings</vt:lpstr>
      <vt:lpstr>Office</vt:lpstr>
      <vt:lpstr>Pro-Test Demo Day Presentation</vt:lpstr>
      <vt:lpstr>Table of Content</vt:lpstr>
      <vt:lpstr>Recap: Problem Statement </vt:lpstr>
      <vt:lpstr>Recap: Our aspired solution</vt:lpstr>
      <vt:lpstr>Methodology (1-2 min)</vt:lpstr>
      <vt:lpstr>Insights/ Visualisation (30 sec)</vt:lpstr>
      <vt:lpstr>Predict in Production/ Showcase (1-2 min)</vt:lpstr>
      <vt:lpstr>Lessons Learned and Outlook (30 sec) / Drop this slide?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Draft Pro-Test Demo Day Presentation</dc:title>
  <dc:creator>Max Höchsmann</dc:creator>
  <cp:lastModifiedBy>Max Höchsmann</cp:lastModifiedBy>
  <cp:revision>9</cp:revision>
  <dcterms:created xsi:type="dcterms:W3CDTF">2022-06-06T10:06:04Z</dcterms:created>
  <dcterms:modified xsi:type="dcterms:W3CDTF">2022-06-06T16:16:56Z</dcterms:modified>
</cp:coreProperties>
</file>