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1_27735F92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3" r:id="rId3"/>
    <p:sldId id="267" r:id="rId4"/>
    <p:sldId id="257" r:id="rId5"/>
    <p:sldId id="264" r:id="rId6"/>
    <p:sldId id="268" r:id="rId7"/>
    <p:sldId id="258" r:id="rId8"/>
    <p:sldId id="266" r:id="rId9"/>
    <p:sldId id="269" r:id="rId10"/>
    <p:sldId id="259" r:id="rId11"/>
    <p:sldId id="270" r:id="rId12"/>
    <p:sldId id="261" r:id="rId13"/>
    <p:sldId id="271" r:id="rId14"/>
    <p:sldId id="260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F761A2B-D09C-B57B-FA78-A1CE2490A83C}" name="Max Höchsmann" initials="MH" userId="3c8c1ec4187b034f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5" autoAdjust="0"/>
    <p:restoredTop sz="77193" autoAdjust="0"/>
  </p:normalViewPr>
  <p:slideViewPr>
    <p:cSldViewPr snapToGrid="0">
      <p:cViewPr varScale="1">
        <p:scale>
          <a:sx n="88" d="100"/>
          <a:sy n="88" d="100"/>
        </p:scale>
        <p:origin x="147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modernComment_101_27735F9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4E055D9-2A98-4B52-AC68-BEFFDF16A2E8}" authorId="{AF761A2B-D09C-B57B-FA78-A1CE2490A83C}" created="2022-06-06T16:10:33.42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661872530" sldId="257"/>
      <ac:picMk id="3074" creationId="{E923BCC0-8004-536D-80D5-08781787D2CE}"/>
    </ac:deMkLst>
    <p188:txBody>
      <a:bodyPr/>
      <a:lstStyle/>
      <a:p>
        <a:r>
          <a:rPr lang="de-DE"/>
          <a:t>Align color of slide separators (first two slides grey, these ones orange)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576B65-3F4C-40D3-9BAC-154574806AF6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FD65AE-20D2-4DD1-822D-EF98EA2ACF9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6162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Problem Statement</a:t>
            </a:r>
          </a:p>
          <a:p>
            <a:pPr lvl="1"/>
            <a:r>
              <a:rPr lang="de-DE" dirty="0"/>
              <a:t>Protests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escalate</a:t>
            </a:r>
            <a:r>
              <a:rPr lang="de-DE" dirty="0"/>
              <a:t> and turn violent, </a:t>
            </a:r>
            <a:r>
              <a:rPr lang="de-DE" dirty="0" err="1"/>
              <a:t>undermining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effectiveness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protest´s</a:t>
            </a:r>
            <a:r>
              <a:rPr lang="de-DE" dirty="0"/>
              <a:t> </a:t>
            </a:r>
            <a:r>
              <a:rPr lang="de-DE" dirty="0" err="1"/>
              <a:t>purpose</a:t>
            </a:r>
            <a:r>
              <a:rPr lang="de-DE" dirty="0"/>
              <a:t> and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legitmacy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regime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harming</a:t>
            </a:r>
            <a:r>
              <a:rPr lang="de-DE" dirty="0"/>
              <a:t> </a:t>
            </a:r>
            <a:r>
              <a:rPr lang="de-DE" dirty="0" err="1"/>
              <a:t>participants</a:t>
            </a:r>
            <a:r>
              <a:rPr lang="de-DE" dirty="0"/>
              <a:t> (</a:t>
            </a:r>
            <a:r>
              <a:rPr lang="de-DE" dirty="0" err="1"/>
              <a:t>compare</a:t>
            </a:r>
            <a:r>
              <a:rPr lang="de-DE" dirty="0"/>
              <a:t> </a:t>
            </a:r>
            <a:r>
              <a:rPr lang="de-DE" dirty="0" err="1"/>
              <a:t>intro</a:t>
            </a:r>
            <a:r>
              <a:rPr lang="de-DE" dirty="0"/>
              <a:t> </a:t>
            </a:r>
            <a:r>
              <a:rPr lang="de-DE" dirty="0" err="1"/>
              <a:t>slides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Noah´s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r>
              <a:rPr lang="de-DE" dirty="0"/>
              <a:t>)</a:t>
            </a:r>
          </a:p>
          <a:p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solves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problem</a:t>
            </a:r>
            <a:r>
              <a:rPr lang="de-DE" dirty="0"/>
              <a:t>, </a:t>
            </a:r>
            <a:r>
              <a:rPr lang="de-DE" dirty="0" err="1"/>
              <a:t>by</a:t>
            </a:r>
            <a:r>
              <a:rPr lang="de-DE" dirty="0"/>
              <a:t>…</a:t>
            </a:r>
          </a:p>
          <a:p>
            <a:pPr lvl="1"/>
            <a:r>
              <a:rPr lang="de-DE" dirty="0"/>
              <a:t>Prevent </a:t>
            </a:r>
            <a:r>
              <a:rPr lang="de-DE" dirty="0" err="1"/>
              <a:t>physical</a:t>
            </a:r>
            <a:r>
              <a:rPr lang="de-DE" dirty="0"/>
              <a:t> and </a:t>
            </a:r>
            <a:r>
              <a:rPr lang="de-DE" dirty="0" err="1"/>
              <a:t>psychological</a:t>
            </a:r>
            <a:r>
              <a:rPr lang="de-DE" dirty="0"/>
              <a:t> </a:t>
            </a:r>
            <a:r>
              <a:rPr lang="de-DE" dirty="0" err="1"/>
              <a:t>harm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participants</a:t>
            </a:r>
            <a:endParaRPr lang="de-DE" dirty="0"/>
          </a:p>
          <a:p>
            <a:pPr lvl="1"/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effectiveness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making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less</a:t>
            </a:r>
            <a:r>
              <a:rPr lang="de-DE" dirty="0"/>
              <a:t> violent</a:t>
            </a:r>
          </a:p>
          <a:p>
            <a:r>
              <a:rPr lang="de-DE" dirty="0"/>
              <a:t>Brief </a:t>
            </a:r>
            <a:r>
              <a:rPr lang="de-DE" dirty="0" err="1"/>
              <a:t>pictures</a:t>
            </a:r>
            <a:r>
              <a:rPr lang="de-DE" dirty="0"/>
              <a:t>/ </a:t>
            </a:r>
            <a:r>
              <a:rPr lang="de-DE" dirty="0" err="1"/>
              <a:t>intro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team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FD65AE-20D2-4DD1-822D-EF98EA2ACF9F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02325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FD65AE-20D2-4DD1-822D-EF98EA2ACF9F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45214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FD65AE-20D2-4DD1-822D-EF98EA2ACF9F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6852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D3E1DC-630D-5512-3255-5E8367D7B2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2DD584B-1EBD-ACF5-C4E1-AF38FD1DD5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656F49-52AC-8163-916B-DF80672C1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AF04690-5E15-3C29-6F40-668E4C1E5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D5E079-474F-2819-FC6A-BDA36D7B2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876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439E77-B43B-028F-A83A-A7CEC0123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2E8BC59-D771-4B19-F898-9357A1C27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AA14A4D-F046-D150-4F4F-F9133F9AB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EF7C3A-5455-7C48-AD57-11A35DD71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17B695-87D3-37DD-6BE2-A32C8DBD1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4246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3AC438-3E25-7BFF-B621-65774BCAE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04D75D0-609E-2F82-4027-61CCA9457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67623E-96BC-B97F-5537-7E4A48D3E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702899-7F8A-68A9-8105-74E44EBC5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1594EF-EFB6-4829-A6BB-496A40A17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3760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178721-6C3B-9D6E-F757-42CB1F173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8CF9FC-8535-5941-7750-AFFB9CD023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CBAE7D9-59AE-B7B2-995B-36FC3FAF3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DB4FB5-2E7A-AE37-8B98-230BE705C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1ABF67-3130-CECE-1965-DF56A0ADF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370581-CB68-C65D-5271-C9CAD8262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0191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748516-8678-594E-451B-518CA993E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30332E6-7DC4-C423-A523-82E60BDE0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608804A-2F17-EFFF-45A4-AD1D536D5E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6FC602C-3772-4192-4CBE-9EE727D88D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6D9D866-60C3-6464-D2F5-7B03587060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A4BF96E-7370-528C-75B5-B38DEA87D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C75D50E-B85A-2BC6-5BED-95C10FFF0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1265560-82E6-0C23-C536-3B9E4B420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8423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03D7C7-13A5-05D7-C5E2-D75663057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E4F96C6-7009-6A62-A27C-20D02B43A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44AB36-3694-88C2-3B3C-C5D5D79CE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BCBF624-F058-F854-90C2-0AA1EFC29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8385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7AD991E-9CF5-4D35-7A1A-7E44B1030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FA41381-797C-5E40-989B-C3FD9F0AA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56831B-A37B-11BC-C068-4478BC517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178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FD578F-AC2E-03C9-AB41-C67807D2A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C55DB3-C05E-9895-3B54-BDE83CFCD6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4F81D4B-B7B8-07A8-FA23-50069A0E0C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6009736-447E-1EC5-217E-96A39C313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37CFA5E-7944-227E-3199-0A7024EDE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B9C754A-7010-FD36-D387-7895ABFE3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895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C912FF-9BFF-5433-8D3E-ACD07A0CE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0F2EB8B-D211-7FE4-804F-854FF7F053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8A59F7F-3E6B-443F-069C-F2D3294E4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B418436-0E13-A279-50D2-F417042BF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E59A1DC-7E4E-7D2C-749E-9AC1BEC4E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DE7DECE-8468-A080-6ABF-B3D38A9FB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030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B1F58C-FAE0-4963-7768-AEB31AC0A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5A84B8D-322B-5C3A-2D92-951710E598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3A47E52-E0B4-39DE-1B01-3FBBE2496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E0AC6F2-36C0-1940-E0C7-28F965A5C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18C13C5-F616-3606-9D03-D975D4D56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395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57BE496-85A9-DB43-A16F-E7451D82AB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268AECD-6B77-A870-DF17-D8B557E8A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7537E7-1912-241B-5099-1E396B503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D38FD04-592F-C05B-5F8E-0FC3B00A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60202AC-F87A-2BBC-0F3F-4D2A59ECB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0073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63A9D3-1DC9-E868-99A8-5B2BB3F19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99A9BF-939E-C15A-4DAB-FE4A0BD0CB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FAF700-8620-5902-B46B-A90BEDCD59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9CE653-738E-0E2E-7F7C-759E885BEC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A76063-E72F-997B-D55B-ABDF572E48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196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27735F9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0" name="Rectangle 1035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F9F379-A4A6-2CA6-735C-3E6B4016C7A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"/>
          <a:stretch/>
        </p:blipFill>
        <p:spPr bwMode="auto">
          <a:xfrm>
            <a:off x="20" y="10"/>
            <a:ext cx="1218893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F507EEC-A9BC-BABF-DAF4-0E8255BC9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63240"/>
          </a:xfrm>
        </p:spPr>
        <p:txBody>
          <a:bodyPr>
            <a:normAutofit/>
          </a:bodyPr>
          <a:lstStyle/>
          <a:p>
            <a:r>
              <a:rPr lang="de-DE" sz="6600">
                <a:solidFill>
                  <a:srgbClr val="FFFFFF"/>
                </a:solidFill>
              </a:rPr>
              <a:t>Pro-Test Demo Day Presentation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0DAB99-D649-69EF-F865-18278EFED9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536192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Increasing citizen participation, strengthening governance processes, creating a safe political arena  for all actors</a:t>
            </a:r>
            <a:endParaRPr lang="de-DE" dirty="0">
              <a:solidFill>
                <a:srgbClr val="FFFFFF"/>
              </a:solidFill>
            </a:endParaRPr>
          </a:p>
          <a:p>
            <a:r>
              <a:rPr lang="de-DE">
                <a:solidFill>
                  <a:srgbClr val="FFFFFF"/>
                </a:solidFill>
              </a:rPr>
              <a:t>Noah Darwich, </a:t>
            </a:r>
            <a:r>
              <a:rPr lang="de-DE" dirty="0">
                <a:solidFill>
                  <a:srgbClr val="FFFFFF"/>
                </a:solidFill>
              </a:rPr>
              <a:t>Kevin Lee, Max Höchsmann</a:t>
            </a:r>
          </a:p>
        </p:txBody>
      </p:sp>
      <p:sp>
        <p:nvSpPr>
          <p:cNvPr id="1041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4960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Recap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of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project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aim</a:t>
            </a:r>
            <a:r>
              <a:rPr lang="de-DE" sz="2400" b="1" dirty="0">
                <a:solidFill>
                  <a:srgbClr val="FFFFFF"/>
                </a:solidFill>
              </a:rPr>
              <a:t> and </a:t>
            </a:r>
            <a:r>
              <a:rPr lang="de-DE" sz="2400" b="1" dirty="0" err="1">
                <a:solidFill>
                  <a:srgbClr val="FFFFFF"/>
                </a:solidFill>
              </a:rPr>
              <a:t>challenges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Methodology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>
                <a:solidFill>
                  <a:srgbClr val="FFFFFF"/>
                </a:solidFill>
              </a:rPr>
              <a:t>Sneak Peak and </a:t>
            </a:r>
            <a:r>
              <a:rPr lang="de-DE" sz="2400" b="1" dirty="0" err="1">
                <a:solidFill>
                  <a:srgbClr val="FFFFFF"/>
                </a:solidFill>
              </a:rPr>
              <a:t>general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insights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>
                <a:solidFill>
                  <a:srgbClr val="FFFFFF"/>
                </a:solidFill>
              </a:rPr>
              <a:t>Showcase – </a:t>
            </a:r>
            <a:r>
              <a:rPr lang="de-DE" sz="2400" b="1" dirty="0" err="1">
                <a:solidFill>
                  <a:srgbClr val="FFFFFF"/>
                </a:solidFill>
              </a:rPr>
              <a:t>Predict</a:t>
            </a:r>
            <a:r>
              <a:rPr lang="de-DE" sz="2400" b="1" dirty="0">
                <a:solidFill>
                  <a:srgbClr val="FFFFFF"/>
                </a:solidFill>
              </a:rPr>
              <a:t> in </a:t>
            </a:r>
            <a:r>
              <a:rPr lang="de-DE" sz="2400" b="1" dirty="0" err="1">
                <a:solidFill>
                  <a:srgbClr val="FFFFFF"/>
                </a:solidFill>
              </a:rPr>
              <a:t>Production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Lessons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Learned</a:t>
            </a:r>
            <a:r>
              <a:rPr lang="de-DE" sz="2400" b="1" dirty="0">
                <a:solidFill>
                  <a:srgbClr val="FFFFFF"/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32061300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Recap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of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project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aim</a:t>
            </a:r>
            <a:r>
              <a:rPr lang="de-DE" sz="2400" b="1" dirty="0">
                <a:solidFill>
                  <a:srgbClr val="FFFFFF"/>
                </a:solidFill>
              </a:rPr>
              <a:t> and </a:t>
            </a:r>
            <a:r>
              <a:rPr lang="de-DE" sz="2400" b="1" dirty="0" err="1">
                <a:solidFill>
                  <a:srgbClr val="FFFFFF"/>
                </a:solidFill>
              </a:rPr>
              <a:t>challenges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Methodology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Sneak Peak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general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insights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Showcase –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Predict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in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Production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Lessons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Learned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16097719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9" name="Rectangle 308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Autofit/>
          </a:bodyPr>
          <a:lstStyle/>
          <a:p>
            <a:r>
              <a:rPr lang="de-DE" sz="3600" dirty="0" err="1"/>
              <a:t>Violence</a:t>
            </a:r>
            <a:r>
              <a:rPr lang="de-DE" sz="3600" dirty="0"/>
              <a:t> at </a:t>
            </a:r>
            <a:r>
              <a:rPr lang="de-DE" sz="3600" dirty="0" err="1"/>
              <a:t>demonstrations</a:t>
            </a:r>
            <a:r>
              <a:rPr lang="de-DE" sz="3600" dirty="0"/>
              <a:t> </a:t>
            </a:r>
            <a:r>
              <a:rPr lang="de-DE" sz="3600" dirty="0" err="1"/>
              <a:t>undermines</a:t>
            </a:r>
            <a:r>
              <a:rPr lang="de-DE" sz="3600" dirty="0"/>
              <a:t> </a:t>
            </a:r>
            <a:r>
              <a:rPr lang="de-DE" sz="3600" dirty="0" err="1"/>
              <a:t>critical</a:t>
            </a:r>
            <a:r>
              <a:rPr lang="de-DE" sz="3600" dirty="0"/>
              <a:t> </a:t>
            </a:r>
            <a:r>
              <a:rPr lang="de-DE" sz="3600" dirty="0" err="1"/>
              <a:t>civic</a:t>
            </a:r>
            <a:r>
              <a:rPr lang="de-DE" sz="3600" dirty="0"/>
              <a:t> </a:t>
            </a:r>
            <a:r>
              <a:rPr lang="de-DE" sz="3600" dirty="0" err="1"/>
              <a:t>processes</a:t>
            </a:r>
            <a:endParaRPr lang="de-DE" sz="3600" dirty="0"/>
          </a:p>
        </p:txBody>
      </p:sp>
      <p:sp>
        <p:nvSpPr>
          <p:cNvPr id="308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78" name="Content Placeholder 3077">
            <a:extLst>
              <a:ext uri="{FF2B5EF4-FFF2-40B4-BE49-F238E27FC236}">
                <a16:creationId xmlns:a16="http://schemas.microsoft.com/office/drawing/2014/main" id="{DFF072D1-82BC-76E6-7251-A78B1ABA52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1" y="2872899"/>
            <a:ext cx="5085567" cy="3309198"/>
          </a:xfrm>
        </p:spPr>
        <p:txBody>
          <a:bodyPr>
            <a:norm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rgbClr val="323232"/>
                </a:solidFill>
                <a:latin typeface="Arial" panose="020B0604020202020204" pitchFamily="34" charset="0"/>
              </a:rPr>
              <a:t>From dozens to thousands </a:t>
            </a:r>
            <a: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  <a:t>protesters face injuries</a:t>
            </a:r>
            <a:r>
              <a:rPr lang="en-US" sz="1800" dirty="0">
                <a:solidFill>
                  <a:srgbClr val="323232"/>
                </a:solidFill>
                <a:latin typeface="Arial" panose="020B0604020202020204" pitchFamily="34" charset="0"/>
              </a:rPr>
              <a:t>, caused during contact  with law enforcement </a:t>
            </a:r>
          </a:p>
          <a:p>
            <a:pPr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  <a:t>Many of those injuries are lethal, or untreatable</a:t>
            </a:r>
          </a:p>
          <a:p>
            <a:pPr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  <a:t>State actors undermine their legitimacy </a:t>
            </a:r>
            <a:r>
              <a:rPr lang="en-US" sz="1800" dirty="0">
                <a:solidFill>
                  <a:srgbClr val="323232"/>
                </a:solidFill>
                <a:latin typeface="Arial" panose="020B0604020202020204" pitchFamily="34" charset="0"/>
              </a:rPr>
              <a:t>and lose the trust of their citizens</a:t>
            </a:r>
          </a:p>
          <a:p>
            <a:pPr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  <a:t>Peaceful protests are in everybody´s interest</a:t>
            </a:r>
          </a:p>
          <a:p>
            <a:pPr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  <a:t>Unfortunately little time is spent on trying to assess if a protest might turn violent or not…</a:t>
            </a:r>
            <a:b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</a:br>
            <a:endParaRPr lang="en-US" sz="1800" b="1" dirty="0">
              <a:solidFill>
                <a:srgbClr val="323232"/>
              </a:solidFill>
              <a:latin typeface="Arial" panose="020B0604020202020204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923BCC0-8004-536D-80D5-08781787D2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03" r="8577"/>
          <a:stretch/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187253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11" name="Rectangle 4104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8E50ADA-A2F1-FE35-E423-A6E8AEC4F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Autofit/>
          </a:bodyPr>
          <a:lstStyle/>
          <a:p>
            <a:r>
              <a:rPr lang="de-DE" sz="3600" dirty="0" err="1"/>
              <a:t>Our</a:t>
            </a:r>
            <a:r>
              <a:rPr lang="de-DE" sz="3600" dirty="0"/>
              <a:t> </a:t>
            </a:r>
            <a:r>
              <a:rPr lang="de-DE" sz="3600" dirty="0" err="1"/>
              <a:t>aspiration</a:t>
            </a:r>
            <a:r>
              <a:rPr lang="de-DE" sz="3600" dirty="0"/>
              <a:t>: </a:t>
            </a:r>
            <a:r>
              <a:rPr lang="de-DE" sz="3600" dirty="0" err="1"/>
              <a:t>enable</a:t>
            </a:r>
            <a:r>
              <a:rPr lang="de-DE" sz="3600" dirty="0"/>
              <a:t> </a:t>
            </a:r>
            <a:r>
              <a:rPr lang="de-DE" sz="3600" dirty="0" err="1"/>
              <a:t>more</a:t>
            </a:r>
            <a:r>
              <a:rPr lang="de-DE" sz="3600" dirty="0"/>
              <a:t> </a:t>
            </a:r>
            <a:r>
              <a:rPr lang="de-DE" sz="3600" dirty="0" err="1"/>
              <a:t>peaceful</a:t>
            </a:r>
            <a:r>
              <a:rPr lang="de-DE" sz="3600" dirty="0"/>
              <a:t> </a:t>
            </a:r>
            <a:r>
              <a:rPr lang="de-DE" sz="3600" dirty="0" err="1"/>
              <a:t>demonstrations</a:t>
            </a:r>
            <a:endParaRPr lang="de-DE" sz="3600" dirty="0"/>
          </a:p>
        </p:txBody>
      </p:sp>
      <p:sp>
        <p:nvSpPr>
          <p:cNvPr id="4107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12" name="Content Placeholder 4101">
            <a:extLst>
              <a:ext uri="{FF2B5EF4-FFF2-40B4-BE49-F238E27FC236}">
                <a16:creationId xmlns:a16="http://schemas.microsoft.com/office/drawing/2014/main" id="{F434F063-CDD7-DFA1-2591-2165359E4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n-US" sz="2200" dirty="0"/>
              <a:t>What kind of repression tools might be used?</a:t>
            </a:r>
          </a:p>
          <a:p>
            <a:r>
              <a:rPr lang="en-US" sz="2200" dirty="0"/>
              <a:t>How can better tactics be employed to avoid escalation?</a:t>
            </a:r>
          </a:p>
          <a:p>
            <a:r>
              <a:rPr lang="en-US" sz="2200" dirty="0"/>
              <a:t>Where are the most suitable locations to avoid violence, so that demonstrators can achieve their goal effectively?</a:t>
            </a:r>
          </a:p>
        </p:txBody>
      </p:sp>
      <p:pic>
        <p:nvPicPr>
          <p:cNvPr id="4098" name="Picture 2" descr="Ein Bild, das Text, Person enthält.&#10;&#10;Automatisch generierte Beschreibung">
            <a:extLst>
              <a:ext uri="{FF2B5EF4-FFF2-40B4-BE49-F238E27FC236}">
                <a16:creationId xmlns:a16="http://schemas.microsoft.com/office/drawing/2014/main" id="{9B82AB07-00D3-2B34-5401-0D1A5E8D2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59" r="14739" b="2"/>
          <a:stretch/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5893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Recap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of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project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aim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challenges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Methodology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Sneak Peak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general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insights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Showcase –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Predict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in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Production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Lessons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Learned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16379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6132A96-B467-ABA5-CD4F-9E7EB294A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de-DE" sz="5400"/>
              <a:t>Where did we start?</a:t>
            </a:r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2E52C6-AFF9-AF1C-CE15-61EC66A51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de-DE" sz="2200"/>
              <a:t>Data sets of </a:t>
            </a:r>
            <a:r>
              <a:rPr lang="de-DE" sz="2200" b="1"/>
              <a:t>3 different countries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de-DE" sz="2200"/>
              <a:t>A rough idea what </a:t>
            </a:r>
            <a:r>
              <a:rPr lang="de-DE" sz="2200" b="1"/>
              <a:t>model </a:t>
            </a:r>
            <a:r>
              <a:rPr lang="de-DE" sz="2200"/>
              <a:t>to use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de-DE" sz="2200"/>
              <a:t>The idea of what </a:t>
            </a:r>
            <a:r>
              <a:rPr lang="de-DE" sz="2200" b="1"/>
              <a:t>target variable </a:t>
            </a:r>
            <a:r>
              <a:rPr lang="de-DE" sz="2200"/>
              <a:t>to choose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de-DE" sz="2200" b="1"/>
              <a:t>More than 100 features per set</a:t>
            </a:r>
            <a:r>
              <a:rPr lang="de-DE" sz="2200"/>
              <a:t>, </a:t>
            </a:r>
            <a:br>
              <a:rPr lang="de-DE" sz="2200"/>
            </a:br>
            <a:r>
              <a:rPr lang="de-DE" sz="2200"/>
              <a:t>many of them correlated to</a:t>
            </a:r>
            <a:br>
              <a:rPr lang="de-DE" sz="2200"/>
            </a:br>
            <a:r>
              <a:rPr lang="de-DE" sz="2200"/>
              <a:t>themselves, some of them unique</a:t>
            </a:r>
          </a:p>
          <a:p>
            <a:pPr lvl="3"/>
            <a:endParaRPr lang="de-DE" sz="2200"/>
          </a:p>
          <a:p>
            <a:endParaRPr lang="de-DE" sz="220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E294418-1523-80C9-E8C0-3A1F27C267B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2277" b="1"/>
          <a:stretch/>
        </p:blipFill>
        <p:spPr>
          <a:xfrm>
            <a:off x="7959676" y="2093976"/>
            <a:ext cx="3657046" cy="3801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835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4" name="Rectangle 5133">
            <a:extLst>
              <a:ext uri="{FF2B5EF4-FFF2-40B4-BE49-F238E27FC236}">
                <a16:creationId xmlns:a16="http://schemas.microsoft.com/office/drawing/2014/main" id="{A6D37EE4-EA1B-46EE-A54B-5233C63C96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6132A96-B467-ABA5-CD4F-9E7EB294A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47013" cy="1434415"/>
          </a:xfrm>
        </p:spPr>
        <p:txBody>
          <a:bodyPr anchor="b">
            <a:normAutofit/>
          </a:bodyPr>
          <a:lstStyle/>
          <a:p>
            <a:r>
              <a:rPr lang="de-DE" sz="5400"/>
              <a:t>How did we proceed?</a:t>
            </a:r>
          </a:p>
        </p:txBody>
      </p:sp>
      <p:sp>
        <p:nvSpPr>
          <p:cNvPr id="5136" name="sketch line">
            <a:extLst>
              <a:ext uri="{FF2B5EF4-FFF2-40B4-BE49-F238E27FC236}">
                <a16:creationId xmlns:a16="http://schemas.microsoft.com/office/drawing/2014/main" id="{927D5270-6648-4CC1-8F78-48BE299CAC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767709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2" name="Picture 2" descr="Iteration – P4-Dev Framework">
            <a:extLst>
              <a:ext uri="{FF2B5EF4-FFF2-40B4-BE49-F238E27FC236}">
                <a16:creationId xmlns:a16="http://schemas.microsoft.com/office/drawing/2014/main" id="{2E3DD7EC-32E8-F67F-9749-38BBD7DAB4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40" b="-1"/>
          <a:stretch/>
        </p:blipFill>
        <p:spPr bwMode="auto">
          <a:xfrm>
            <a:off x="572492" y="2002056"/>
            <a:ext cx="3943849" cy="4184060"/>
          </a:xfrm>
          <a:custGeom>
            <a:avLst/>
            <a:gdLst/>
            <a:ahLst/>
            <a:cxnLst/>
            <a:rect l="l" t="t" r="r" b="b"/>
            <a:pathLst>
              <a:path w="3807743" h="6307845">
                <a:moveTo>
                  <a:pt x="723201" y="386"/>
                </a:moveTo>
                <a:cubicBezTo>
                  <a:pt x="853884" y="-4204"/>
                  <a:pt x="1013493" y="33912"/>
                  <a:pt x="1176100" y="22622"/>
                </a:cubicBezTo>
                <a:cubicBezTo>
                  <a:pt x="1230302" y="18859"/>
                  <a:pt x="1281736" y="20622"/>
                  <a:pt x="1331852" y="24473"/>
                </a:cubicBezTo>
                <a:lnTo>
                  <a:pt x="1439547" y="34944"/>
                </a:lnTo>
                <a:lnTo>
                  <a:pt x="1484197" y="36226"/>
                </a:lnTo>
                <a:cubicBezTo>
                  <a:pt x="1535166" y="35421"/>
                  <a:pt x="1586369" y="31625"/>
                  <a:pt x="1636625" y="22622"/>
                </a:cubicBezTo>
                <a:cubicBezTo>
                  <a:pt x="1686882" y="13619"/>
                  <a:pt x="1729837" y="10653"/>
                  <a:pt x="1768740" y="10885"/>
                </a:cubicBezTo>
                <a:lnTo>
                  <a:pt x="1829538" y="15086"/>
                </a:lnTo>
                <a:lnTo>
                  <a:pt x="1869968" y="7996"/>
                </a:lnTo>
                <a:cubicBezTo>
                  <a:pt x="1953577" y="-31"/>
                  <a:pt x="2036989" y="9808"/>
                  <a:pt x="2112925" y="20118"/>
                </a:cubicBezTo>
                <a:lnTo>
                  <a:pt x="2119331" y="20977"/>
                </a:lnTo>
                <a:lnTo>
                  <a:pt x="2221855" y="13374"/>
                </a:lnTo>
                <a:cubicBezTo>
                  <a:pt x="2261207" y="12845"/>
                  <a:pt x="2298379" y="14359"/>
                  <a:pt x="2333484" y="16393"/>
                </a:cubicBezTo>
                <a:lnTo>
                  <a:pt x="2372613" y="18812"/>
                </a:lnTo>
                <a:lnTo>
                  <a:pt x="2404945" y="9387"/>
                </a:lnTo>
                <a:cubicBezTo>
                  <a:pt x="2452532" y="1754"/>
                  <a:pt x="2506192" y="9333"/>
                  <a:pt x="2561622" y="17814"/>
                </a:cubicBezTo>
                <a:lnTo>
                  <a:pt x="2583950" y="20591"/>
                </a:lnTo>
                <a:lnTo>
                  <a:pt x="2643527" y="20319"/>
                </a:lnTo>
                <a:cubicBezTo>
                  <a:pt x="2669677" y="20426"/>
                  <a:pt x="2697963" y="20717"/>
                  <a:pt x="2727392" y="21103"/>
                </a:cubicBezTo>
                <a:lnTo>
                  <a:pt x="2786908" y="21989"/>
                </a:lnTo>
                <a:lnTo>
                  <a:pt x="2846459" y="13267"/>
                </a:lnTo>
                <a:cubicBezTo>
                  <a:pt x="2896401" y="10176"/>
                  <a:pt x="2960607" y="12733"/>
                  <a:pt x="3036361" y="17072"/>
                </a:cubicBezTo>
                <a:lnTo>
                  <a:pt x="3129100" y="22671"/>
                </a:lnTo>
                <a:lnTo>
                  <a:pt x="3130653" y="22622"/>
                </a:lnTo>
                <a:cubicBezTo>
                  <a:pt x="3178874" y="19804"/>
                  <a:pt x="3260845" y="26231"/>
                  <a:pt x="3352422" y="32691"/>
                </a:cubicBezTo>
                <a:lnTo>
                  <a:pt x="3362608" y="33356"/>
                </a:lnTo>
                <a:lnTo>
                  <a:pt x="3446036" y="35579"/>
                </a:lnTo>
                <a:cubicBezTo>
                  <a:pt x="3550323" y="36566"/>
                  <a:pt x="3662083" y="33535"/>
                  <a:pt x="3778601" y="22622"/>
                </a:cubicBezTo>
                <a:cubicBezTo>
                  <a:pt x="3793981" y="243672"/>
                  <a:pt x="3764152" y="318695"/>
                  <a:pt x="3778601" y="467157"/>
                </a:cubicBezTo>
                <a:cubicBezTo>
                  <a:pt x="3790077" y="557563"/>
                  <a:pt x="3783697" y="684218"/>
                  <a:pt x="3777639" y="811856"/>
                </a:cubicBezTo>
                <a:lnTo>
                  <a:pt x="3773760" y="922625"/>
                </a:lnTo>
                <a:lnTo>
                  <a:pt x="3778601" y="974384"/>
                </a:lnTo>
                <a:cubicBezTo>
                  <a:pt x="3785784" y="1003717"/>
                  <a:pt x="3785160" y="1041120"/>
                  <a:pt x="3781239" y="1085904"/>
                </a:cubicBezTo>
                <a:lnTo>
                  <a:pt x="3776107" y="1132519"/>
                </a:lnTo>
                <a:lnTo>
                  <a:pt x="3778601" y="1162456"/>
                </a:lnTo>
                <a:cubicBezTo>
                  <a:pt x="3791360" y="1256797"/>
                  <a:pt x="3774958" y="1367020"/>
                  <a:pt x="3763568" y="1469787"/>
                </a:cubicBezTo>
                <a:lnTo>
                  <a:pt x="3758806" y="1520515"/>
                </a:lnTo>
                <a:lnTo>
                  <a:pt x="3760417" y="1549437"/>
                </a:lnTo>
                <a:cubicBezTo>
                  <a:pt x="3764298" y="1588133"/>
                  <a:pt x="3770171" y="1628243"/>
                  <a:pt x="3778601" y="1669683"/>
                </a:cubicBezTo>
                <a:cubicBezTo>
                  <a:pt x="3846039" y="2001203"/>
                  <a:pt x="3774784" y="2142285"/>
                  <a:pt x="3778601" y="2364982"/>
                </a:cubicBezTo>
                <a:lnTo>
                  <a:pt x="3776565" y="2406088"/>
                </a:lnTo>
                <a:lnTo>
                  <a:pt x="3778601" y="2427673"/>
                </a:lnTo>
                <a:cubicBezTo>
                  <a:pt x="3821357" y="2695960"/>
                  <a:pt x="3735684" y="2699438"/>
                  <a:pt x="3778601" y="2809517"/>
                </a:cubicBezTo>
                <a:cubicBezTo>
                  <a:pt x="3789330" y="2837037"/>
                  <a:pt x="3791666" y="2872927"/>
                  <a:pt x="3789892" y="2914654"/>
                </a:cubicBezTo>
                <a:lnTo>
                  <a:pt x="3784971" y="2966248"/>
                </a:lnTo>
                <a:lnTo>
                  <a:pt x="3796722" y="3024078"/>
                </a:lnTo>
                <a:cubicBezTo>
                  <a:pt x="3809238" y="3115139"/>
                  <a:pt x="3806232" y="3210898"/>
                  <a:pt x="3799338" y="3302850"/>
                </a:cubicBezTo>
                <a:lnTo>
                  <a:pt x="3787405" y="3438354"/>
                </a:lnTo>
                <a:lnTo>
                  <a:pt x="3790719" y="3460532"/>
                </a:lnTo>
                <a:cubicBezTo>
                  <a:pt x="3797323" y="3541872"/>
                  <a:pt x="3789007" y="3624193"/>
                  <a:pt x="3780361" y="3709762"/>
                </a:cubicBezTo>
                <a:lnTo>
                  <a:pt x="3780169" y="3712283"/>
                </a:lnTo>
                <a:lnTo>
                  <a:pt x="3781239" y="3768266"/>
                </a:lnTo>
                <a:cubicBezTo>
                  <a:pt x="3780994" y="3815588"/>
                  <a:pt x="3779902" y="3863939"/>
                  <a:pt x="3778794" y="3912511"/>
                </a:cubicBezTo>
                <a:lnTo>
                  <a:pt x="3776324" y="4054010"/>
                </a:lnTo>
                <a:lnTo>
                  <a:pt x="3778601" y="4074733"/>
                </a:lnTo>
                <a:cubicBezTo>
                  <a:pt x="3822365" y="4336760"/>
                  <a:pt x="3765189" y="4482586"/>
                  <a:pt x="3778601" y="4644650"/>
                </a:cubicBezTo>
                <a:cubicBezTo>
                  <a:pt x="3781954" y="4685166"/>
                  <a:pt x="3782850" y="4718916"/>
                  <a:pt x="3782504" y="4749344"/>
                </a:cubicBezTo>
                <a:lnTo>
                  <a:pt x="3780512" y="4796832"/>
                </a:lnTo>
                <a:lnTo>
                  <a:pt x="3786260" y="4877451"/>
                </a:lnTo>
                <a:cubicBezTo>
                  <a:pt x="3786165" y="4918212"/>
                  <a:pt x="3784020" y="4964155"/>
                  <a:pt x="3781623" y="5015963"/>
                </a:cubicBezTo>
                <a:lnTo>
                  <a:pt x="3779076" y="5087925"/>
                </a:lnTo>
                <a:lnTo>
                  <a:pt x="3779599" y="5155456"/>
                </a:lnTo>
                <a:lnTo>
                  <a:pt x="3775907" y="5219073"/>
                </a:lnTo>
                <a:lnTo>
                  <a:pt x="3778601" y="5402640"/>
                </a:lnTo>
                <a:cubicBezTo>
                  <a:pt x="3780494" y="5441637"/>
                  <a:pt x="3781680" y="5475146"/>
                  <a:pt x="3782335" y="5504141"/>
                </a:cubicBezTo>
                <a:lnTo>
                  <a:pt x="3782798" y="5566951"/>
                </a:lnTo>
                <a:lnTo>
                  <a:pt x="3786885" y="5599303"/>
                </a:lnTo>
                <a:cubicBezTo>
                  <a:pt x="3799534" y="5776838"/>
                  <a:pt x="3769350" y="6111156"/>
                  <a:pt x="3778601" y="6291711"/>
                </a:cubicBezTo>
                <a:cubicBezTo>
                  <a:pt x="3687392" y="6306733"/>
                  <a:pt x="3632350" y="6304889"/>
                  <a:pt x="3574752" y="6300212"/>
                </a:cubicBezTo>
                <a:lnTo>
                  <a:pt x="3545837" y="6297718"/>
                </a:lnTo>
                <a:lnTo>
                  <a:pt x="3527963" y="6296834"/>
                </a:lnTo>
                <a:cubicBezTo>
                  <a:pt x="3482151" y="6294419"/>
                  <a:pt x="3430025" y="6291672"/>
                  <a:pt x="3355561" y="6291711"/>
                </a:cubicBezTo>
                <a:cubicBezTo>
                  <a:pt x="3304843" y="6293555"/>
                  <a:pt x="3262749" y="6292377"/>
                  <a:pt x="3225711" y="6290098"/>
                </a:cubicBezTo>
                <a:lnTo>
                  <a:pt x="3218247" y="6289525"/>
                </a:lnTo>
                <a:lnTo>
                  <a:pt x="3198550" y="6289212"/>
                </a:lnTo>
                <a:cubicBezTo>
                  <a:pt x="3144315" y="6287803"/>
                  <a:pt x="3088976" y="6286105"/>
                  <a:pt x="3034921" y="6284968"/>
                </a:cubicBezTo>
                <a:lnTo>
                  <a:pt x="2973802" y="6284626"/>
                </a:lnTo>
                <a:lnTo>
                  <a:pt x="2932520" y="6291711"/>
                </a:lnTo>
                <a:cubicBezTo>
                  <a:pt x="2893699" y="6300111"/>
                  <a:pt x="2847670" y="6301992"/>
                  <a:pt x="2797581" y="6300669"/>
                </a:cubicBezTo>
                <a:lnTo>
                  <a:pt x="2672392" y="6292599"/>
                </a:lnTo>
                <a:lnTo>
                  <a:pt x="2629726" y="6293120"/>
                </a:lnTo>
                <a:lnTo>
                  <a:pt x="2540544" y="6284698"/>
                </a:lnTo>
                <a:lnTo>
                  <a:pt x="2473475" y="6280786"/>
                </a:lnTo>
                <a:cubicBezTo>
                  <a:pt x="2419724" y="6279900"/>
                  <a:pt x="2368202" y="6282437"/>
                  <a:pt x="2322057" y="6291711"/>
                </a:cubicBezTo>
                <a:cubicBezTo>
                  <a:pt x="2275912" y="6300985"/>
                  <a:pt x="2236301" y="6305003"/>
                  <a:pt x="2199195" y="6305968"/>
                </a:cubicBezTo>
                <a:lnTo>
                  <a:pt x="2094190" y="6302012"/>
                </a:lnTo>
                <a:lnTo>
                  <a:pt x="2029724" y="6307766"/>
                </a:lnTo>
                <a:cubicBezTo>
                  <a:pt x="1971866" y="6308389"/>
                  <a:pt x="1916420" y="6305265"/>
                  <a:pt x="1864312" y="6301339"/>
                </a:cubicBezTo>
                <a:lnTo>
                  <a:pt x="1761307" y="6293375"/>
                </a:lnTo>
                <a:lnTo>
                  <a:pt x="1745972" y="6293782"/>
                </a:lnTo>
                <a:cubicBezTo>
                  <a:pt x="1699734" y="6294177"/>
                  <a:pt x="1664143" y="6292827"/>
                  <a:pt x="1633352" y="6291083"/>
                </a:cubicBezTo>
                <a:lnTo>
                  <a:pt x="1621369" y="6290324"/>
                </a:lnTo>
                <a:lnTo>
                  <a:pt x="1599140" y="6291711"/>
                </a:lnTo>
                <a:cubicBezTo>
                  <a:pt x="1564093" y="6296354"/>
                  <a:pt x="1527169" y="6296254"/>
                  <a:pt x="1488567" y="6294097"/>
                </a:cubicBezTo>
                <a:lnTo>
                  <a:pt x="1429716" y="6289243"/>
                </a:lnTo>
                <a:lnTo>
                  <a:pt x="1401008" y="6291711"/>
                </a:lnTo>
                <a:cubicBezTo>
                  <a:pt x="1314301" y="6301163"/>
                  <a:pt x="1222976" y="6299856"/>
                  <a:pt x="1127367" y="6296839"/>
                </a:cubicBezTo>
                <a:lnTo>
                  <a:pt x="1062601" y="6295730"/>
                </a:lnTo>
                <a:lnTo>
                  <a:pt x="964991" y="6305909"/>
                </a:lnTo>
                <a:cubicBezTo>
                  <a:pt x="833250" y="6307778"/>
                  <a:pt x="714190" y="6280255"/>
                  <a:pt x="603122" y="6291711"/>
                </a:cubicBezTo>
                <a:cubicBezTo>
                  <a:pt x="455032" y="6306986"/>
                  <a:pt x="261206" y="6260346"/>
                  <a:pt x="30143" y="6291711"/>
                </a:cubicBezTo>
                <a:cubicBezTo>
                  <a:pt x="-1198" y="6167281"/>
                  <a:pt x="7291" y="6044138"/>
                  <a:pt x="19371" y="5934598"/>
                </a:cubicBezTo>
                <a:lnTo>
                  <a:pt x="33559" y="5801663"/>
                </a:lnTo>
                <a:lnTo>
                  <a:pt x="30143" y="5784485"/>
                </a:lnTo>
                <a:cubicBezTo>
                  <a:pt x="7257" y="5691455"/>
                  <a:pt x="7506" y="5585492"/>
                  <a:pt x="13352" y="5476692"/>
                </a:cubicBezTo>
                <a:lnTo>
                  <a:pt x="21882" y="5346809"/>
                </a:lnTo>
                <a:lnTo>
                  <a:pt x="22064" y="5339439"/>
                </a:lnTo>
                <a:lnTo>
                  <a:pt x="29601" y="5166357"/>
                </a:lnTo>
                <a:lnTo>
                  <a:pt x="30143" y="5151877"/>
                </a:lnTo>
                <a:cubicBezTo>
                  <a:pt x="30018" y="5125783"/>
                  <a:pt x="30111" y="5102484"/>
                  <a:pt x="30346" y="5081409"/>
                </a:cubicBezTo>
                <a:lnTo>
                  <a:pt x="30433" y="5076663"/>
                </a:lnTo>
                <a:lnTo>
                  <a:pt x="30143" y="4963804"/>
                </a:lnTo>
                <a:cubicBezTo>
                  <a:pt x="27040" y="4910138"/>
                  <a:pt x="27067" y="4856021"/>
                  <a:pt x="28459" y="4800989"/>
                </a:cubicBezTo>
                <a:lnTo>
                  <a:pt x="30399" y="4750796"/>
                </a:lnTo>
                <a:lnTo>
                  <a:pt x="31514" y="4666872"/>
                </a:lnTo>
                <a:lnTo>
                  <a:pt x="34697" y="4639551"/>
                </a:lnTo>
                <a:lnTo>
                  <a:pt x="34963" y="4632686"/>
                </a:lnTo>
                <a:cubicBezTo>
                  <a:pt x="37318" y="4575362"/>
                  <a:pt x="39271" y="4516661"/>
                  <a:pt x="39056" y="4456118"/>
                </a:cubicBezTo>
                <a:lnTo>
                  <a:pt x="36996" y="4412759"/>
                </a:lnTo>
                <a:lnTo>
                  <a:pt x="30143" y="4388188"/>
                </a:lnTo>
                <a:cubicBezTo>
                  <a:pt x="7389" y="4328002"/>
                  <a:pt x="11492" y="4256950"/>
                  <a:pt x="19232" y="4188739"/>
                </a:cubicBezTo>
                <a:lnTo>
                  <a:pt x="23985" y="4147809"/>
                </a:lnTo>
                <a:lnTo>
                  <a:pt x="23690" y="4087290"/>
                </a:lnTo>
                <a:lnTo>
                  <a:pt x="29097" y="3984687"/>
                </a:lnTo>
                <a:lnTo>
                  <a:pt x="28035" y="3962690"/>
                </a:lnTo>
                <a:cubicBezTo>
                  <a:pt x="28525" y="3945828"/>
                  <a:pt x="30052" y="3926691"/>
                  <a:pt x="32148" y="3905387"/>
                </a:cubicBezTo>
                <a:lnTo>
                  <a:pt x="34754" y="3881032"/>
                </a:lnTo>
                <a:lnTo>
                  <a:pt x="39206" y="3802233"/>
                </a:lnTo>
                <a:cubicBezTo>
                  <a:pt x="39778" y="3763353"/>
                  <a:pt x="37619" y="3728800"/>
                  <a:pt x="30143" y="3698588"/>
                </a:cubicBezTo>
                <a:cubicBezTo>
                  <a:pt x="7714" y="3607954"/>
                  <a:pt x="33117" y="3482508"/>
                  <a:pt x="36579" y="3365983"/>
                </a:cubicBezTo>
                <a:lnTo>
                  <a:pt x="36510" y="3356621"/>
                </a:lnTo>
                <a:lnTo>
                  <a:pt x="30143" y="3311044"/>
                </a:lnTo>
                <a:cubicBezTo>
                  <a:pt x="14271" y="3224157"/>
                  <a:pt x="11445" y="3149243"/>
                  <a:pt x="14856" y="3082749"/>
                </a:cubicBezTo>
                <a:lnTo>
                  <a:pt x="22229" y="3005366"/>
                </a:lnTo>
                <a:lnTo>
                  <a:pt x="27244" y="2895198"/>
                </a:lnTo>
                <a:cubicBezTo>
                  <a:pt x="29143" y="2848776"/>
                  <a:pt x="30527" y="2799531"/>
                  <a:pt x="30143" y="2746826"/>
                </a:cubicBezTo>
                <a:lnTo>
                  <a:pt x="36784" y="2638240"/>
                </a:lnTo>
                <a:lnTo>
                  <a:pt x="30143" y="2615745"/>
                </a:lnTo>
                <a:cubicBezTo>
                  <a:pt x="-20952" y="2495890"/>
                  <a:pt x="17898" y="2340273"/>
                  <a:pt x="37923" y="2201958"/>
                </a:cubicBezTo>
                <a:lnTo>
                  <a:pt x="42734" y="2158379"/>
                </a:lnTo>
                <a:lnTo>
                  <a:pt x="30143" y="2114218"/>
                </a:lnTo>
                <a:cubicBezTo>
                  <a:pt x="2269" y="2040950"/>
                  <a:pt x="-2735" y="1972014"/>
                  <a:pt x="1162" y="1906697"/>
                </a:cubicBezTo>
                <a:lnTo>
                  <a:pt x="6289" y="1854885"/>
                </a:lnTo>
                <a:lnTo>
                  <a:pt x="8053" y="1809168"/>
                </a:lnTo>
                <a:cubicBezTo>
                  <a:pt x="9832" y="1790244"/>
                  <a:pt x="12470" y="1771472"/>
                  <a:pt x="15415" y="1752867"/>
                </a:cubicBezTo>
                <a:lnTo>
                  <a:pt x="30925" y="1652561"/>
                </a:lnTo>
                <a:lnTo>
                  <a:pt x="30143" y="1606992"/>
                </a:lnTo>
                <a:cubicBezTo>
                  <a:pt x="28397" y="1588584"/>
                  <a:pt x="27931" y="1568665"/>
                  <a:pt x="28348" y="1547550"/>
                </a:cubicBezTo>
                <a:lnTo>
                  <a:pt x="29206" y="1531212"/>
                </a:lnTo>
                <a:lnTo>
                  <a:pt x="23637" y="1487282"/>
                </a:lnTo>
                <a:cubicBezTo>
                  <a:pt x="16479" y="1367166"/>
                  <a:pt x="59638" y="1246041"/>
                  <a:pt x="30143" y="1156757"/>
                </a:cubicBezTo>
                <a:cubicBezTo>
                  <a:pt x="21716" y="1131248"/>
                  <a:pt x="18318" y="1090735"/>
                  <a:pt x="17757" y="1041370"/>
                </a:cubicBezTo>
                <a:lnTo>
                  <a:pt x="18463" y="985697"/>
                </a:lnTo>
                <a:lnTo>
                  <a:pt x="16239" y="975915"/>
                </a:lnTo>
                <a:cubicBezTo>
                  <a:pt x="13541" y="957312"/>
                  <a:pt x="12597" y="940330"/>
                  <a:pt x="12862" y="924477"/>
                </a:cubicBezTo>
                <a:lnTo>
                  <a:pt x="23640" y="845857"/>
                </a:lnTo>
                <a:lnTo>
                  <a:pt x="30907" y="688163"/>
                </a:lnTo>
                <a:lnTo>
                  <a:pt x="31375" y="662715"/>
                </a:lnTo>
                <a:lnTo>
                  <a:pt x="30143" y="655230"/>
                </a:lnTo>
                <a:cubicBezTo>
                  <a:pt x="20345" y="615334"/>
                  <a:pt x="17924" y="569960"/>
                  <a:pt x="19185" y="520814"/>
                </a:cubicBezTo>
                <a:lnTo>
                  <a:pt x="26662" y="415314"/>
                </a:lnTo>
                <a:lnTo>
                  <a:pt x="25635" y="383217"/>
                </a:lnTo>
                <a:cubicBezTo>
                  <a:pt x="25461" y="243905"/>
                  <a:pt x="35455" y="113017"/>
                  <a:pt x="30143" y="22622"/>
                </a:cubicBezTo>
                <a:cubicBezTo>
                  <a:pt x="90096" y="13526"/>
                  <a:pt x="146841" y="12585"/>
                  <a:pt x="200495" y="15390"/>
                </a:cubicBezTo>
                <a:lnTo>
                  <a:pt x="324102" y="27794"/>
                </a:lnTo>
                <a:lnTo>
                  <a:pt x="329634" y="27979"/>
                </a:lnTo>
                <a:cubicBezTo>
                  <a:pt x="398332" y="30204"/>
                  <a:pt x="468106" y="31425"/>
                  <a:pt x="551798" y="27886"/>
                </a:cubicBezTo>
                <a:lnTo>
                  <a:pt x="592464" y="25476"/>
                </a:lnTo>
                <a:lnTo>
                  <a:pt x="603122" y="22622"/>
                </a:lnTo>
                <a:cubicBezTo>
                  <a:pt x="639294" y="8191"/>
                  <a:pt x="679641" y="1916"/>
                  <a:pt x="723201" y="386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2E52C6-AFF9-AF1C-CE15-61EC66A51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5955" y="2071316"/>
            <a:ext cx="6713552" cy="4114800"/>
          </a:xfrm>
        </p:spPr>
        <p:txBody>
          <a:bodyPr anchor="t">
            <a:normAutofit fontScale="92500" lnSpcReduction="10000"/>
          </a:bodyPr>
          <a:lstStyle/>
          <a:p>
            <a:r>
              <a:rPr lang="de-DE" sz="1900" b="1" dirty="0"/>
              <a:t>Data </a:t>
            </a:r>
            <a:r>
              <a:rPr lang="de-DE" sz="1900" b="1" dirty="0" err="1"/>
              <a:t>exploration</a:t>
            </a:r>
            <a:r>
              <a:rPr lang="de-DE" sz="1900" b="1" dirty="0"/>
              <a:t> </a:t>
            </a:r>
            <a:r>
              <a:rPr lang="de-DE" sz="1900" dirty="0"/>
              <a:t>- </a:t>
            </a:r>
            <a:r>
              <a:rPr lang="de-DE" sz="1900" dirty="0" err="1"/>
              <a:t>viz</a:t>
            </a:r>
            <a:r>
              <a:rPr lang="de-DE" sz="1900" dirty="0"/>
              <a:t> + </a:t>
            </a:r>
            <a:r>
              <a:rPr lang="de-DE" sz="1900" dirty="0" err="1"/>
              <a:t>identifying</a:t>
            </a:r>
            <a:r>
              <a:rPr lang="de-DE" sz="1900" dirty="0"/>
              <a:t> </a:t>
            </a:r>
            <a:r>
              <a:rPr lang="de-DE" sz="1900" dirty="0" err="1"/>
              <a:t>first</a:t>
            </a:r>
            <a:r>
              <a:rPr lang="de-DE" sz="1900" dirty="0"/>
              <a:t> </a:t>
            </a:r>
            <a:r>
              <a:rPr lang="de-DE" sz="1900" dirty="0" err="1"/>
              <a:t>correlations</a:t>
            </a:r>
            <a:r>
              <a:rPr lang="de-DE" sz="1900" dirty="0"/>
              <a:t> </a:t>
            </a:r>
          </a:p>
          <a:p>
            <a:r>
              <a:rPr lang="de-DE" sz="1900" b="1" dirty="0"/>
              <a:t>Data </a:t>
            </a:r>
            <a:r>
              <a:rPr lang="de-DE" sz="1900" b="1" dirty="0" err="1"/>
              <a:t>Preprocessing</a:t>
            </a:r>
            <a:r>
              <a:rPr lang="de-DE" sz="1900" b="1" dirty="0"/>
              <a:t> </a:t>
            </a:r>
            <a:r>
              <a:rPr lang="de-DE" sz="1900" dirty="0"/>
              <a:t>(</a:t>
            </a:r>
            <a:r>
              <a:rPr lang="de-DE" sz="1900" dirty="0" err="1"/>
              <a:t>taking</a:t>
            </a:r>
            <a:r>
              <a:rPr lang="de-DE" sz="1900" dirty="0"/>
              <a:t> a </a:t>
            </a:r>
            <a:r>
              <a:rPr lang="de-DE" sz="1900" dirty="0" err="1"/>
              <a:t>loooot</a:t>
            </a:r>
            <a:r>
              <a:rPr lang="de-DE" sz="1900" dirty="0"/>
              <a:t> </a:t>
            </a:r>
            <a:r>
              <a:rPr lang="de-DE" sz="1900" dirty="0" err="1"/>
              <a:t>of</a:t>
            </a:r>
            <a:r>
              <a:rPr lang="de-DE" sz="1900" dirty="0"/>
              <a:t> time!)</a:t>
            </a:r>
          </a:p>
          <a:p>
            <a:pPr lvl="1"/>
            <a:r>
              <a:rPr lang="de-DE" sz="1900" dirty="0" err="1"/>
              <a:t>Eliminating</a:t>
            </a:r>
            <a:r>
              <a:rPr lang="de-DE" sz="1900" dirty="0"/>
              <a:t> variables</a:t>
            </a:r>
          </a:p>
          <a:p>
            <a:pPr lvl="1"/>
            <a:r>
              <a:rPr lang="de-DE" sz="1900" dirty="0" err="1"/>
              <a:t>Standardising</a:t>
            </a:r>
            <a:r>
              <a:rPr lang="de-DE" sz="1900" dirty="0"/>
              <a:t> and </a:t>
            </a:r>
            <a:r>
              <a:rPr lang="de-DE" sz="1900" dirty="0" err="1"/>
              <a:t>merging</a:t>
            </a:r>
            <a:r>
              <a:rPr lang="de-DE" sz="1900" dirty="0"/>
              <a:t> </a:t>
            </a:r>
            <a:r>
              <a:rPr lang="de-DE" sz="1900" dirty="0" err="1"/>
              <a:t>the</a:t>
            </a:r>
            <a:r>
              <a:rPr lang="de-DE" sz="1900" dirty="0"/>
              <a:t> 3 </a:t>
            </a:r>
            <a:r>
              <a:rPr lang="de-DE" sz="1900" dirty="0" err="1"/>
              <a:t>data</a:t>
            </a:r>
            <a:r>
              <a:rPr lang="de-DE" sz="1900" dirty="0"/>
              <a:t> </a:t>
            </a:r>
            <a:r>
              <a:rPr lang="de-DE" sz="1900" dirty="0" err="1"/>
              <a:t>sets</a:t>
            </a:r>
            <a:endParaRPr lang="de-DE" sz="1900" dirty="0"/>
          </a:p>
          <a:p>
            <a:pPr lvl="1"/>
            <a:r>
              <a:rPr lang="de-DE" sz="1900" dirty="0"/>
              <a:t>Encoding </a:t>
            </a:r>
          </a:p>
          <a:p>
            <a:r>
              <a:rPr lang="de-DE" sz="1900" b="1" dirty="0"/>
              <a:t>Modelling</a:t>
            </a:r>
          </a:p>
          <a:p>
            <a:pPr lvl="1"/>
            <a:r>
              <a:rPr lang="de-DE" sz="1900" dirty="0" err="1"/>
              <a:t>Logistics</a:t>
            </a:r>
            <a:endParaRPr lang="de-DE" sz="1900" dirty="0"/>
          </a:p>
          <a:p>
            <a:pPr lvl="1"/>
            <a:r>
              <a:rPr lang="de-DE" sz="1900" dirty="0"/>
              <a:t>Random Forest</a:t>
            </a:r>
          </a:p>
          <a:p>
            <a:pPr lvl="1"/>
            <a:r>
              <a:rPr lang="de-DE" sz="1900" dirty="0"/>
              <a:t>DTC Model</a:t>
            </a:r>
          </a:p>
          <a:p>
            <a:pPr lvl="1"/>
            <a:r>
              <a:rPr lang="de-DE" sz="1900" dirty="0" err="1"/>
              <a:t>Choosing</a:t>
            </a:r>
            <a:r>
              <a:rPr lang="de-DE" sz="1900" dirty="0"/>
              <a:t> final </a:t>
            </a:r>
            <a:r>
              <a:rPr lang="de-DE" sz="1900" dirty="0" err="1"/>
              <a:t>features</a:t>
            </a:r>
            <a:endParaRPr lang="de-DE" sz="1900" dirty="0"/>
          </a:p>
          <a:p>
            <a:r>
              <a:rPr lang="de-DE" sz="1900" b="1" dirty="0" err="1"/>
              <a:t>Predict</a:t>
            </a:r>
            <a:r>
              <a:rPr lang="de-DE" sz="1900" b="1" dirty="0"/>
              <a:t> in </a:t>
            </a:r>
            <a:r>
              <a:rPr lang="de-DE" sz="1900" b="1" dirty="0" err="1"/>
              <a:t>Production</a:t>
            </a:r>
            <a:r>
              <a:rPr lang="de-DE" sz="1900" b="1" dirty="0"/>
              <a:t> </a:t>
            </a:r>
          </a:p>
          <a:p>
            <a:pPr lvl="1"/>
            <a:r>
              <a:rPr lang="de-DE" sz="1900" dirty="0" err="1">
                <a:highlight>
                  <a:srgbClr val="FFFF00"/>
                </a:highlight>
              </a:rPr>
              <a:t>Please</a:t>
            </a:r>
            <a:r>
              <a:rPr lang="de-DE" sz="1900" dirty="0">
                <a:highlight>
                  <a:srgbClr val="FFFF00"/>
                </a:highlight>
              </a:rPr>
              <a:t> </a:t>
            </a:r>
            <a:r>
              <a:rPr lang="de-DE" sz="1900" dirty="0" err="1">
                <a:highlight>
                  <a:srgbClr val="FFFF00"/>
                </a:highlight>
              </a:rPr>
              <a:t>fill</a:t>
            </a:r>
            <a:r>
              <a:rPr lang="de-DE" sz="1900" dirty="0">
                <a:highlight>
                  <a:srgbClr val="FFFF00"/>
                </a:highlight>
              </a:rPr>
              <a:t> in </a:t>
            </a:r>
            <a:r>
              <a:rPr lang="de-DE" sz="1900" dirty="0" err="1">
                <a:highlight>
                  <a:srgbClr val="FFFF00"/>
                </a:highlight>
              </a:rPr>
              <a:t>technical</a:t>
            </a:r>
            <a:r>
              <a:rPr lang="de-DE" sz="1900" dirty="0">
                <a:highlight>
                  <a:srgbClr val="FFFF00"/>
                </a:highlight>
              </a:rPr>
              <a:t> </a:t>
            </a:r>
            <a:r>
              <a:rPr lang="de-DE" sz="1900" dirty="0" err="1">
                <a:highlight>
                  <a:srgbClr val="FFFF00"/>
                </a:highlight>
              </a:rPr>
              <a:t>details</a:t>
            </a:r>
            <a:r>
              <a:rPr lang="de-DE" sz="1900" dirty="0">
                <a:highlight>
                  <a:srgbClr val="FFFF00"/>
                </a:highlight>
              </a:rPr>
              <a:t> </a:t>
            </a:r>
            <a:r>
              <a:rPr lang="de-DE" sz="1900" dirty="0" err="1">
                <a:highlight>
                  <a:srgbClr val="FFFF00"/>
                </a:highlight>
              </a:rPr>
              <a:t>here</a:t>
            </a:r>
            <a:endParaRPr lang="de-DE" sz="1900" dirty="0">
              <a:highlight>
                <a:srgbClr val="FFFF00"/>
              </a:highlight>
            </a:endParaRPr>
          </a:p>
          <a:p>
            <a:r>
              <a:rPr lang="de-DE" sz="2300" b="1" dirty="0"/>
              <a:t>Do </a:t>
            </a:r>
            <a:r>
              <a:rPr lang="de-DE" sz="2300" b="1" dirty="0" err="1"/>
              <a:t>it</a:t>
            </a:r>
            <a:r>
              <a:rPr lang="de-DE" sz="2300" b="1" dirty="0"/>
              <a:t> </a:t>
            </a:r>
            <a:r>
              <a:rPr lang="de-DE" sz="2300" b="1" dirty="0" err="1"/>
              <a:t>again</a:t>
            </a:r>
            <a:r>
              <a:rPr lang="de-DE" sz="2300" b="1" dirty="0"/>
              <a:t> </a:t>
            </a:r>
            <a:r>
              <a:rPr lang="de-DE" sz="2300" dirty="0">
                <a:sym typeface="Wingdings" panose="05000000000000000000" pitchFamily="2" charset="2"/>
              </a:rPr>
              <a:t></a:t>
            </a:r>
            <a:endParaRPr lang="de-DE" sz="2300" dirty="0"/>
          </a:p>
          <a:p>
            <a:pPr lvl="3"/>
            <a:endParaRPr lang="de-DE" sz="1900" dirty="0"/>
          </a:p>
          <a:p>
            <a:endParaRPr lang="de-DE" sz="1900" dirty="0"/>
          </a:p>
        </p:txBody>
      </p:sp>
    </p:spTree>
    <p:extLst>
      <p:ext uri="{BB962C8B-B14F-4D97-AF65-F5344CB8AC3E}">
        <p14:creationId xmlns:p14="http://schemas.microsoft.com/office/powerpoint/2010/main" val="788683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Recap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of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project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aim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challenges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Methodology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>
                <a:solidFill>
                  <a:srgbClr val="FFFFFF"/>
                </a:solidFill>
              </a:rPr>
              <a:t>Sneak Peak and </a:t>
            </a:r>
            <a:r>
              <a:rPr lang="de-DE" sz="2400" b="1" dirty="0" err="1">
                <a:solidFill>
                  <a:srgbClr val="FFFFFF"/>
                </a:solidFill>
              </a:rPr>
              <a:t>general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insights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Showcase –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Predict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in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Production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Lessons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Learned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13515950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83923A-4E0C-1636-6E75-BDEB89615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Insights</a:t>
            </a:r>
            <a:r>
              <a:rPr lang="de-DE" dirty="0"/>
              <a:t>/ </a:t>
            </a:r>
            <a:r>
              <a:rPr lang="de-DE" dirty="0" err="1"/>
              <a:t>Visualisation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AD37D3-DACA-7BBA-B44C-62553E5E6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84273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Recap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of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project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aim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challenges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Methodology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Sneak Peak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general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insights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>
                <a:solidFill>
                  <a:srgbClr val="FFFFFF"/>
                </a:solidFill>
              </a:rPr>
              <a:t>Showcase – </a:t>
            </a:r>
            <a:r>
              <a:rPr lang="de-DE" sz="2400" b="1" dirty="0" err="1">
                <a:solidFill>
                  <a:srgbClr val="FFFFFF"/>
                </a:solidFill>
              </a:rPr>
              <a:t>Predict</a:t>
            </a:r>
            <a:r>
              <a:rPr lang="de-DE" sz="2400" b="1" dirty="0">
                <a:solidFill>
                  <a:srgbClr val="FFFFFF"/>
                </a:solidFill>
              </a:rPr>
              <a:t> in </a:t>
            </a:r>
            <a:r>
              <a:rPr lang="de-DE" sz="2400" b="1" dirty="0" err="1">
                <a:solidFill>
                  <a:srgbClr val="FFFFFF"/>
                </a:solidFill>
              </a:rPr>
              <a:t>Production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Lessons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Learned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309678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6ECCC0-70FF-260F-1579-C96632747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in </a:t>
            </a:r>
            <a:r>
              <a:rPr lang="de-DE" dirty="0" err="1"/>
              <a:t>Production</a:t>
            </a:r>
            <a:r>
              <a:rPr lang="de-DE" dirty="0"/>
              <a:t>/ Showcase (1-2 min)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7D6D0A-183E-B25E-5E8C-F4E54913D1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Here </a:t>
            </a:r>
            <a:r>
              <a:rPr lang="de-DE" dirty="0" err="1"/>
              <a:t>we</a:t>
            </a:r>
            <a:r>
              <a:rPr lang="de-DE" dirty="0"/>
              <a:t> will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. Link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web </a:t>
            </a:r>
            <a:r>
              <a:rPr lang="de-DE" dirty="0" err="1"/>
              <a:t>app</a:t>
            </a:r>
            <a:endParaRPr lang="de-DE" dirty="0"/>
          </a:p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phone</a:t>
            </a:r>
            <a:r>
              <a:rPr lang="de-DE" dirty="0"/>
              <a:t> (</a:t>
            </a:r>
            <a:r>
              <a:rPr lang="de-DE" dirty="0" err="1"/>
              <a:t>comp</a:t>
            </a:r>
            <a:r>
              <a:rPr lang="de-DE" dirty="0"/>
              <a:t> Chatbot </a:t>
            </a:r>
            <a:r>
              <a:rPr lang="de-DE" dirty="0" err="1"/>
              <a:t>team</a:t>
            </a:r>
            <a:r>
              <a:rPr lang="de-DE" dirty="0"/>
              <a:t>)?</a:t>
            </a:r>
          </a:p>
          <a:p>
            <a:r>
              <a:rPr lang="de-DE" dirty="0" err="1"/>
              <a:t>Let</a:t>
            </a:r>
            <a:r>
              <a:rPr lang="de-DE" dirty="0"/>
              <a:t> </a:t>
            </a:r>
            <a:r>
              <a:rPr lang="de-DE" dirty="0" err="1"/>
              <a:t>people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crowd</a:t>
            </a:r>
            <a:r>
              <a:rPr lang="de-DE" dirty="0"/>
              <a:t> </a:t>
            </a:r>
            <a:r>
              <a:rPr lang="de-DE" dirty="0" err="1"/>
              <a:t>draw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/ feature </a:t>
            </a:r>
            <a:r>
              <a:rPr lang="de-DE" dirty="0" err="1"/>
              <a:t>factors</a:t>
            </a:r>
            <a:r>
              <a:rPr lang="de-DE" dirty="0"/>
              <a:t> and do a „</a:t>
            </a:r>
            <a:r>
              <a:rPr lang="de-DE" dirty="0" err="1"/>
              <a:t>random</a:t>
            </a:r>
            <a:r>
              <a:rPr lang="de-DE" dirty="0"/>
              <a:t>“ </a:t>
            </a:r>
            <a:r>
              <a:rPr lang="de-DE" dirty="0" err="1"/>
              <a:t>prediction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44366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Recap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of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project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aim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challenges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Methodology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Sneak Peak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general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insights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>
                <a:solidFill>
                  <a:srgbClr val="FFFFFF"/>
                </a:solidFill>
              </a:rPr>
              <a:t>Showcase – </a:t>
            </a:r>
            <a:r>
              <a:rPr lang="de-DE" sz="2400" b="1" dirty="0" err="1">
                <a:solidFill>
                  <a:srgbClr val="FFFFFF"/>
                </a:solidFill>
              </a:rPr>
              <a:t>Predict</a:t>
            </a:r>
            <a:r>
              <a:rPr lang="de-DE" sz="2400" b="1" dirty="0">
                <a:solidFill>
                  <a:srgbClr val="FFFFFF"/>
                </a:solidFill>
              </a:rPr>
              <a:t> in </a:t>
            </a:r>
            <a:r>
              <a:rPr lang="de-DE" sz="2400" b="1" dirty="0" err="1">
                <a:solidFill>
                  <a:srgbClr val="FFFFFF"/>
                </a:solidFill>
              </a:rPr>
              <a:t>Production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Lessons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Learned</a:t>
            </a:r>
            <a:r>
              <a:rPr lang="de-DE" sz="2400" b="1" dirty="0">
                <a:solidFill>
                  <a:srgbClr val="FFFFFF"/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19875449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F6DBA3-B0B1-565D-885A-BBC41E6C3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Lessons</a:t>
            </a:r>
            <a:r>
              <a:rPr lang="de-DE" dirty="0"/>
              <a:t> </a:t>
            </a:r>
            <a:r>
              <a:rPr lang="de-DE" dirty="0" err="1"/>
              <a:t>Learned</a:t>
            </a:r>
            <a:r>
              <a:rPr lang="de-DE" dirty="0"/>
              <a:t> and Outlook (30 sec) /</a:t>
            </a:r>
            <a:br>
              <a:rPr lang="de-DE" dirty="0"/>
            </a:br>
            <a:r>
              <a:rPr lang="de-DE" b="1" dirty="0"/>
              <a:t>Drop </a:t>
            </a:r>
            <a:r>
              <a:rPr lang="de-DE" b="1" dirty="0" err="1"/>
              <a:t>this</a:t>
            </a:r>
            <a:r>
              <a:rPr lang="de-DE" b="1" dirty="0"/>
              <a:t> </a:t>
            </a:r>
            <a:r>
              <a:rPr lang="de-DE" b="1" dirty="0" err="1"/>
              <a:t>slide</a:t>
            </a:r>
            <a:r>
              <a:rPr lang="de-DE" b="1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1B0A2B-7250-B47A-2372-BC679FB972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Preproc</a:t>
            </a:r>
            <a:r>
              <a:rPr lang="de-DE" dirty="0"/>
              <a:t> </a:t>
            </a:r>
            <a:r>
              <a:rPr lang="de-DE" dirty="0" err="1"/>
              <a:t>takes</a:t>
            </a:r>
            <a:r>
              <a:rPr lang="de-DE" dirty="0"/>
              <a:t> a </a:t>
            </a:r>
            <a:r>
              <a:rPr lang="de-DE" dirty="0" err="1"/>
              <a:t>long</a:t>
            </a:r>
            <a:r>
              <a:rPr lang="de-DE" dirty="0"/>
              <a:t> time</a:t>
            </a:r>
          </a:p>
          <a:p>
            <a:r>
              <a:rPr lang="de-DE" dirty="0" err="1"/>
              <a:t>Complex</a:t>
            </a:r>
            <a:r>
              <a:rPr lang="de-DE" dirty="0"/>
              <a:t>, emergent, interdependent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tricky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r>
              <a:rPr lang="de-DE" dirty="0"/>
              <a:t>Data Exploration and Analysis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help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reduce</a:t>
            </a:r>
            <a:r>
              <a:rPr lang="de-DE" dirty="0"/>
              <a:t> </a:t>
            </a:r>
            <a:r>
              <a:rPr lang="de-DE" dirty="0" err="1"/>
              <a:t>complexity</a:t>
            </a:r>
            <a:endParaRPr lang="de-DE" dirty="0"/>
          </a:p>
          <a:p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everything</a:t>
            </a:r>
            <a:r>
              <a:rPr lang="de-DE" dirty="0"/>
              <a:t> (</a:t>
            </a:r>
            <a:r>
              <a:rPr lang="de-DE" dirty="0" err="1"/>
              <a:t>thanks</a:t>
            </a:r>
            <a:r>
              <a:rPr lang="de-DE" dirty="0"/>
              <a:t>, Noah!) – blind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inductivism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wrong</a:t>
            </a:r>
            <a:r>
              <a:rPr lang="de-DE" dirty="0"/>
              <a:t> </a:t>
            </a:r>
            <a:r>
              <a:rPr lang="de-DE" dirty="0" err="1"/>
              <a:t>conclustions</a:t>
            </a:r>
            <a:endParaRPr lang="de-DE" dirty="0"/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52469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566</Words>
  <Application>Microsoft Office PowerPoint</Application>
  <PresentationFormat>Breitbild</PresentationFormat>
  <Paragraphs>87</Paragraphs>
  <Slides>14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Wingdings</vt:lpstr>
      <vt:lpstr>Office</vt:lpstr>
      <vt:lpstr>Pro-Test Demo Day Presentation</vt:lpstr>
      <vt:lpstr>Table of  Content</vt:lpstr>
      <vt:lpstr>Table of Content</vt:lpstr>
      <vt:lpstr>Violence at demonstrations undermines critical civic processes</vt:lpstr>
      <vt:lpstr>Our aspiration: enable more peaceful demonstrations</vt:lpstr>
      <vt:lpstr>Table of Content</vt:lpstr>
      <vt:lpstr>Where did we start?</vt:lpstr>
      <vt:lpstr>How did we proceed?</vt:lpstr>
      <vt:lpstr>Table of Content</vt:lpstr>
      <vt:lpstr>Insights/ Visualisation</vt:lpstr>
      <vt:lpstr>Table of Content</vt:lpstr>
      <vt:lpstr>Predict in Production/ Showcase (1-2 min)</vt:lpstr>
      <vt:lpstr>Table of Content</vt:lpstr>
      <vt:lpstr>Lessons Learned and Outlook (30 sec) / Drop this slide?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Draft Pro-Test Demo Day Presentation</dc:title>
  <dc:creator>Max Höchsmann</dc:creator>
  <cp:lastModifiedBy>Max Höchsmann</cp:lastModifiedBy>
  <cp:revision>10</cp:revision>
  <dcterms:created xsi:type="dcterms:W3CDTF">2022-06-06T10:06:04Z</dcterms:created>
  <dcterms:modified xsi:type="dcterms:W3CDTF">2022-06-07T06:35:35Z</dcterms:modified>
</cp:coreProperties>
</file>